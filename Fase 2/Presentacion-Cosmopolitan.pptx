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embeddedFontLst>
    <p:embeddedFont>
      <p:font typeface="Poppins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IN5AeAYSdiisyb4njzeGYJhCF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85FDD-75F0-4AC7-BE80-1752B7F6AF84}">
  <a:tblStyle styleId="{E2C85FDD-75F0-4AC7-BE80-1752B7F6AF8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1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6" Type="http://customschemas.google.com/relationships/presentationmetadata" Target="meta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sz="1300" b="1">
                <a:solidFill>
                  <a:srgbClr val="241F2B"/>
                </a:solidFill>
              </a:rPr>
              <a:t>Sprint 0 · 3 pts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25400">
              <a:solidFill>
                <a:srgbClr val="8B8694"/>
              </a:solidFill>
              <a:prstDash val="dash"/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</c:v>
                </c:pt>
                <c:pt idx="1">
                  <c:v>2.84</c:v>
                </c:pt>
                <c:pt idx="2">
                  <c:v>2.68</c:v>
                </c:pt>
                <c:pt idx="3">
                  <c:v>2.5299999999999998</c:v>
                </c:pt>
                <c:pt idx="4">
                  <c:v>2.37</c:v>
                </c:pt>
                <c:pt idx="5">
                  <c:v>2.21</c:v>
                </c:pt>
                <c:pt idx="6">
                  <c:v>2.0499999999999998</c:v>
                </c:pt>
                <c:pt idx="7">
                  <c:v>1.89</c:v>
                </c:pt>
                <c:pt idx="8">
                  <c:v>1.74</c:v>
                </c:pt>
                <c:pt idx="9">
                  <c:v>1.58</c:v>
                </c:pt>
                <c:pt idx="10">
                  <c:v>1.42</c:v>
                </c:pt>
                <c:pt idx="11">
                  <c:v>1.26</c:v>
                </c:pt>
                <c:pt idx="12">
                  <c:v>1.1100000000000001</c:v>
                </c:pt>
                <c:pt idx="13">
                  <c:v>0.95</c:v>
                </c:pt>
                <c:pt idx="14">
                  <c:v>0.79</c:v>
                </c:pt>
                <c:pt idx="15">
                  <c:v>0.63</c:v>
                </c:pt>
                <c:pt idx="16">
                  <c:v>0.47</c:v>
                </c:pt>
                <c:pt idx="17">
                  <c:v>0.32</c:v>
                </c:pt>
                <c:pt idx="18">
                  <c:v>0.16</c:v>
                </c:pt>
                <c:pt idx="1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BE-43EF-A07C-2236827605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ln w="31750">
              <a:solidFill>
                <a:srgbClr val="C23B63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BE-43EF-A07C-2236827605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E3DEE2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CL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es-CL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sz="1300" b="1">
                <a:solidFill>
                  <a:srgbClr val="241F2B"/>
                </a:solidFill>
              </a:rPr>
              <a:t>Sprint 1 · 65 pts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25400">
              <a:solidFill>
                <a:srgbClr val="8B8694"/>
              </a:solidFill>
              <a:prstDash val="dash"/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65</c:v>
                </c:pt>
                <c:pt idx="1">
                  <c:v>61.6</c:v>
                </c:pt>
                <c:pt idx="2">
                  <c:v>58.2</c:v>
                </c:pt>
                <c:pt idx="3">
                  <c:v>54.7</c:v>
                </c:pt>
                <c:pt idx="4">
                  <c:v>51.3</c:v>
                </c:pt>
                <c:pt idx="5">
                  <c:v>47.9</c:v>
                </c:pt>
                <c:pt idx="6">
                  <c:v>44.5</c:v>
                </c:pt>
                <c:pt idx="7">
                  <c:v>41.1</c:v>
                </c:pt>
                <c:pt idx="8">
                  <c:v>37.6</c:v>
                </c:pt>
                <c:pt idx="9">
                  <c:v>34.200000000000003</c:v>
                </c:pt>
                <c:pt idx="10">
                  <c:v>30.8</c:v>
                </c:pt>
                <c:pt idx="11">
                  <c:v>27.4</c:v>
                </c:pt>
                <c:pt idx="12">
                  <c:v>23.9</c:v>
                </c:pt>
                <c:pt idx="13">
                  <c:v>20.5</c:v>
                </c:pt>
                <c:pt idx="14">
                  <c:v>17.100000000000001</c:v>
                </c:pt>
                <c:pt idx="15">
                  <c:v>13.7</c:v>
                </c:pt>
                <c:pt idx="16">
                  <c:v>10.3</c:v>
                </c:pt>
                <c:pt idx="17">
                  <c:v>6.8</c:v>
                </c:pt>
                <c:pt idx="18">
                  <c:v>3.4</c:v>
                </c:pt>
                <c:pt idx="1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19-456C-8A4F-7C8F66BCD8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ln w="31750">
              <a:solidFill>
                <a:srgbClr val="C23B63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65</c:v>
                </c:pt>
                <c:pt idx="1">
                  <c:v>65</c:v>
                </c:pt>
                <c:pt idx="2">
                  <c:v>65</c:v>
                </c:pt>
                <c:pt idx="3">
                  <c:v>65</c:v>
                </c:pt>
                <c:pt idx="4">
                  <c:v>65</c:v>
                </c:pt>
                <c:pt idx="5">
                  <c:v>65</c:v>
                </c:pt>
                <c:pt idx="6">
                  <c:v>65</c:v>
                </c:pt>
                <c:pt idx="7">
                  <c:v>65</c:v>
                </c:pt>
                <c:pt idx="8">
                  <c:v>65</c:v>
                </c:pt>
                <c:pt idx="9">
                  <c:v>65</c:v>
                </c:pt>
                <c:pt idx="10">
                  <c:v>65</c:v>
                </c:pt>
                <c:pt idx="11">
                  <c:v>65</c:v>
                </c:pt>
                <c:pt idx="12">
                  <c:v>65</c:v>
                </c:pt>
                <c:pt idx="13">
                  <c:v>65</c:v>
                </c:pt>
                <c:pt idx="14">
                  <c:v>44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19-456C-8A4F-7C8F66BCD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E3DEE2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CL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es-CL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sz="1300" b="1">
                <a:solidFill>
                  <a:srgbClr val="241F2B"/>
                </a:solidFill>
              </a:rPr>
              <a:t>Sprint 2 · 65 pts (en curso)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25400">
              <a:solidFill>
                <a:srgbClr val="8B8694"/>
              </a:solidFill>
              <a:prstDash val="dash"/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65.0</c:v>
                </c:pt>
                <c:pt idx="1">
                  <c:v>60.0</c:v>
                </c:pt>
                <c:pt idx="2">
                  <c:v>55.0</c:v>
                </c:pt>
                <c:pt idx="3">
                  <c:v>50.0</c:v>
                </c:pt>
                <c:pt idx="4">
                  <c:v>45.0</c:v>
                </c:pt>
                <c:pt idx="5">
                  <c:v>40.0</c:v>
                </c:pt>
                <c:pt idx="6">
                  <c:v>35.0</c:v>
                </c:pt>
                <c:pt idx="7">
                  <c:v>30.0</c:v>
                </c:pt>
                <c:pt idx="8">
                  <c:v>25.0</c:v>
                </c:pt>
                <c:pt idx="9">
                  <c:v>20.0</c:v>
                </c:pt>
                <c:pt idx="10">
                  <c:v>15.0</c:v>
                </c:pt>
                <c:pt idx="11">
                  <c:v>10.0</c:v>
                </c:pt>
                <c:pt idx="12">
                  <c:v>5.0</c:v>
                </c:pt>
                <c:pt idx="13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00-44F1-83EA-E82B9DEA13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ln w="31750">
              <a:solidFill>
                <a:srgbClr val="C23B63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58</c:v>
                </c:pt>
                <c:pt idx="1">
                  <c:v>58</c:v>
                </c:pt>
                <c:pt idx="2">
                  <c:v>58</c:v>
                </c:pt>
                <c:pt idx="3">
                  <c:v>58</c:v>
                </c:pt>
                <c:pt idx="4">
                  <c:v>58</c:v>
                </c:pt>
                <c:pt idx="5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00-44F1-83EA-E82B9DEA13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E3DEE2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CL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es-CL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F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5628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4A22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2011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 Cosmopolitan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914400" y="34290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Centralizando la gestión comercial y operativa de Agencia Cosmopolitan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51206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377440" y="512064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Esteban Morales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Christian Cuadra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Felipe Gutiérrez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Tabla de contenidos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640080" y="18288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417319" y="190195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417319" y="27706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640080" y="35661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417319" y="363931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640080" y="443484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417319" y="45079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640080" y="53035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417319" y="537667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RF, RNF, épicas e historias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4389120" y="18288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5166359" y="190195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4389120" y="26974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5166359" y="27706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4389120" y="35661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5166359" y="363931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4389120" y="443484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5166359" y="45079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4389120" y="53035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5166359" y="537667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Evidencias por Sprint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8138159" y="18288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8915399" y="190195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Cronograma actualizado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8138159" y="26974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8915399" y="27706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Demostración del incremento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8138159" y="35661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8915399" y="363931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Conclusiones y próximos pasos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8138159" y="443484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8915399" y="45079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Reflexión final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Cada diapositiva lleva el número del tema en su encabezado y el número de página abajo a la derecha.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1 · CONTEXTO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Una agencia que crece más rápido que sus procesos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640080" y="1828800"/>
            <a:ext cx="57607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Agencia Cosmopolitan es una agencia de marketing digital compuesta por dos socias, orientada a emprendedores, pymes, marcas personales y empresas medianas. Ofrece cuatro planes mensuales y servicios contratables por separado.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640080" y="3566160"/>
            <a:ext cx="57607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Hoy la operación se gestiona en Notion, herramienta que el equipo reporta como difícil de mantener, y la comunicación con clientes se realiza por canales informales.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6949440" y="1783080"/>
            <a:ext cx="4572000" cy="429768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7269480" y="20116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CADENA DE VALOR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7269480" y="2423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7680960" y="24231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Prospecto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7269480" y="28163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7680960" y="28163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Cotización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7269480" y="320954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7680960" y="320954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7269480" y="360273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7680960" y="360273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Plan contratado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7269480" y="39959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7680960" y="399592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Producción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7269480" y="43891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7680960" y="43891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Aprobación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7269480" y="478231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7.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7680960" y="47823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Publicación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7269480" y="51755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8.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7680960" y="517550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Métricas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7269480" y="556869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9.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7680960" y="55686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Reporte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2 · PROBLEMA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Visibilidad limitada y procesos manuales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640080" y="198424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914400" y="1874519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Reporte mensual manual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914400" y="2167127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4 días de elaboración por cliente: el proceso más costoso en horas.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40080" y="312724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914400" y="30175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Cotización manual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914400" y="3310127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3 días hábiles comprometidos; retrasa el cierre comercial.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640080" y="427024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914400" y="41605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Aprobación por canales informales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914400" y="4453128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Envío de gráficas sin registro formal: sin trazabilidad de lo aprobado.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6217920" y="198424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6492240" y="1874519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Control manual de la cuota del plan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6492240" y="2167127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Seguimiento manual de entregables: riesgo de incumplimiento contractual.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217920" y="312724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6492240" y="30175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Información dispersa en Notion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6492240" y="3310127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Herramienta de difícil mantención: sin fuente única de verdad.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868680" y="557784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Problema central 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La agencia no dispone de un sistema que registre de forma trazable el cumplimiento de los planes ni el ciclo de aprobación de contenido, y elabora manualmente cotizaciones y reportes, concentrando en esas tareas una parte significativa del tiempo de un equipo de dos personas.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3 · NECESIDAD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Lo que la agencia necesita resolver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640080" y="198424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914400" y="1874519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Centralización con trazabilidad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914400" y="2167127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Una sola plataforma que reemplace Notion y los canales informales.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640080" y="3063239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914400" y="2953511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Automatización asistida por IA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914400" y="3246119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Reducir el tiempo de cotización y reporte mediante generación asistida.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640080" y="4142232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914400" y="40325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Flujo formal de aprobación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914400" y="4325112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Registrar quién aprobó, cuándo y qué versión de cada contenido.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40080" y="522122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914400" y="51114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Visibilidad del cumplimiento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914400" y="5404104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Que agencia y clienta vean el estado del plan contratado en una pantalla.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949440" y="1737360"/>
            <a:ext cx="4572000" cy="443484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7269480" y="19659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CRITERIOS DE ÉXITO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7269480" y="24688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7635240" y="246888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Una pieza de contenido recorre el ciclo completo, desde su creación hasta la aprobación de la clienta, sin salir de la plataforma.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7269480" y="3383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7635240" y="338328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El borrador del reporte mensual se genera en minutos, frente a los 4 días actuales.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7269480" y="42976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7635240" y="429768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El estado de cumplimiento del plan de cualquier cliente es visible en una pantalla.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7269480" y="52120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7635240" y="521208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La agencia valida la solución en una sesión formal de aceptación.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4 · SOLUCIÓN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Una plataforma web que ordena el ciclo completo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640080" y="1828800"/>
            <a:ext cx="108813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Diseñar e implementar una plataforma web responsiva que centralice la gestión comercial y operativa de Agencia Cosmopolitan, incorporando control de cumplimiento de planes, un flujo formal de aprobación de contenido, visualización de métricas y funcionalidades de Inteligencia Artificial aplicadas a cotizaciones, contenido y reportes.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40080" y="3383280"/>
            <a:ext cx="3474720" cy="25603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868680" y="3566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868680" y="4114800"/>
            <a:ext cx="30175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Sitio corporativo, CMS, SEO, analítica y captación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868680" y="54864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Sprints 0–1 · Construida (S1 cerrado)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4343400" y="3383280"/>
            <a:ext cx="3474720" cy="25603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4572000" y="3566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4572000" y="4114800"/>
            <a:ext cx="30175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Gestión comercial: prospectos, cotizador, conversión a cliente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4572000" y="54864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Sprint 2 · En curso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8046719" y="3383280"/>
            <a:ext cx="3474720" cy="25603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8275319" y="3566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8275319" y="4114800"/>
            <a:ext cx="30175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Portal de clientes: calendario, aprobaciones, solicitudes, archivos, métricas, KPIs, campañas y reportes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275319" y="54864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Sprints 3–5 · Planificada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5.1 · REQUERIMIENTOS FUNCIONALES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Requerimientos funcionales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640080" y="198424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914400" y="1874519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Autenticación, roles y aislamiento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914400" y="2167127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Sesiones, 2FA para administradoras y ámbito de datos por cliente.</a:t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640080" y="3063239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914400" y="2953511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Catálogo de planes y servicios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914400" y="3246119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Planes y entregables administrables, sin intervención en código.</a:t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640080" y="4142232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914400" y="4032504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Gestión comercial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914400" y="4325112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Prospectos, kanban, conversión a cliente y cotizador dinámico.</a:t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640080" y="522122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914400" y="5111496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Ficha del cliente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914400" y="540410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Contrato, directrices de marca, objetivos, KPIs y documentos.</a:t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6217920" y="198424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6492240" y="1874519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Cumplimiento del plan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6492240" y="2167127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Entregables comprometidos vs. entregados y aprobados, por mes.</a:t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6217920" y="3063239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6492240" y="2953511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Calendario editorial y aprobación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6492240" y="3246119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Estados, versionado y registro de quién aprobó y cuándo.</a:t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6217920" y="4142232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6492240" y="4032504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Campañas y métricas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6492240" y="4325112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Ingesta por archivo e integración; dashboards por cliente.</a:t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6217920" y="522122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6492240" y="5111496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Portal del cliente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6492240" y="540410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Avance del plan, aprobaciones, KPIs, reportes y solicitudes.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5.2 · REQUERIMIENTOS NO FUNCIONALES</a:t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Requerimientos no funcionales</a:t>
            </a:r>
            <a:endParaRPr/>
          </a:p>
        </p:txBody>
      </p:sp>
      <p:sp>
        <p:nvSpPr>
          <p:cNvPr id="274" name="Google Shape;274;p8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640080" y="1828800"/>
            <a:ext cx="530352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822959" y="193852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Disponibilidad</a:t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2331720" y="192024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Ambiente desplegado y accesible durante la evaluación.</a:t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6217920" y="1828800"/>
            <a:ext cx="530352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6400800" y="193852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Identidad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7909560" y="192024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Interfaz conforme al manual de marca de la agencia.</a:t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640080" y="2697480"/>
            <a:ext cx="530352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822959" y="280720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Rendimiento</a:t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2331720" y="27889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Vistas principales bajo tres segundos con volumen de prueba.</a:t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6217920" y="2697480"/>
            <a:ext cx="530352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6400800" y="280720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SEO</a:t>
            </a:r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7909560" y="27889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URLs amigables, sitemap, metadatos, datos estructurados, Core Web Vitals.</a:t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640080" y="3566160"/>
            <a:ext cx="530352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22959" y="3675887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/>
          </a:p>
        </p:txBody>
      </p:sp>
      <p:sp>
        <p:nvSpPr>
          <p:cNvPr id="290" name="Google Shape;290;p8"/>
          <p:cNvSpPr txBox="1"/>
          <p:nvPr/>
        </p:nvSpPr>
        <p:spPr>
          <a:xfrm>
            <a:off x="2331720" y="365760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Diseño responsivo desde 360 px, con enfoque mobile first.</a:t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6217920" y="3566160"/>
            <a:ext cx="530352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6400800" y="3675887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Analítica</a:t>
            </a:r>
            <a:endParaRPr/>
          </a:p>
        </p:txBody>
      </p:sp>
      <p:sp>
        <p:nvSpPr>
          <p:cNvPr id="293" name="Google Shape;293;p8"/>
          <p:cNvSpPr txBox="1"/>
          <p:nvPr/>
        </p:nvSpPr>
        <p:spPr>
          <a:xfrm>
            <a:off x="7909560" y="365760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GA4, Search Console, Tag Manager, Meta Pixel, UTM y consentimiento.</a:t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640080" y="4434840"/>
            <a:ext cx="530352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 txBox="1"/>
          <p:nvPr/>
        </p:nvSpPr>
        <p:spPr>
          <a:xfrm>
            <a:off x="822959" y="454456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Simplicidad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2331720" y="4526279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Un solo camino por tarea, evitando configurabilidad excesiva.</a:t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6217920" y="4434840"/>
            <a:ext cx="530352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6400800" y="454456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Trazabilidad</a:t>
            </a:r>
            <a:endParaRPr/>
          </a:p>
        </p:txBody>
      </p:sp>
      <p:sp>
        <p:nvSpPr>
          <p:cNvPr id="299" name="Google Shape;299;p8"/>
          <p:cNvSpPr txBox="1"/>
          <p:nvPr/>
        </p:nvSpPr>
        <p:spPr>
          <a:xfrm>
            <a:off x="7909560" y="4526279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Toda aprobación registra autor, fecha y versión.</a:t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640080" y="5303520"/>
            <a:ext cx="530352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822959" y="541324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Accesibilidad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2331720" y="5394959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Contraste suficiente, navegación por teclado, formularios etiquetados.</a:t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6217920" y="5303520"/>
            <a:ext cx="530352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6400800" y="541324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Mantenibilidad</a:t>
            </a:r>
            <a:endParaRPr/>
          </a:p>
        </p:txBody>
      </p:sp>
      <p:sp>
        <p:nvSpPr>
          <p:cNvPr id="305" name="Google Shape;305;p8"/>
          <p:cNvSpPr txBox="1"/>
          <p:nvPr/>
        </p:nvSpPr>
        <p:spPr>
          <a:xfrm>
            <a:off x="7909560" y="5394959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Código versionado, entorno reproducible mediante contenedores.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5.3 · ÉPICAS</a:t>
            </a:r>
            <a:endParaRPr/>
          </a:p>
        </p:txBody>
      </p:sp>
      <p:sp>
        <p:nvSpPr>
          <p:cNvPr id="311" name="Google Shape;311;p9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Cada rol, una necesidad de fondo</a:t>
            </a:r>
            <a:endParaRPr/>
          </a:p>
        </p:txBody>
      </p:sp>
      <p:sp>
        <p:nvSpPr>
          <p:cNvPr id="312" name="Google Shape;312;p9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313" name="Google Shape;313;p9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640080" y="1828800"/>
            <a:ext cx="2560320" cy="64008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822959" y="18288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Administradora</a:t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640080" y="2468880"/>
            <a:ext cx="2560320" cy="35661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822959" y="2697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Para gestionar la agencia</a:t>
            </a:r>
            <a:endParaRPr/>
          </a:p>
        </p:txBody>
      </p:sp>
      <p:sp>
        <p:nvSpPr>
          <p:cNvPr id="318" name="Google Shape;318;p9"/>
          <p:cNvSpPr txBox="1"/>
          <p:nvPr/>
        </p:nvSpPr>
        <p:spPr>
          <a:xfrm>
            <a:off x="822959" y="3200400"/>
            <a:ext cx="21945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Necesito centralizar la gestión comercial y operativa de la agencia, para dejar de depender de Notion y de canales informales.</a:t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3383280" y="1828800"/>
            <a:ext cx="2560320" cy="64008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3566160" y="18288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Colaboradora</a:t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3383280" y="2468880"/>
            <a:ext cx="2560320" cy="35661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3566160" y="2697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Para producir contenido</a:t>
            </a:r>
            <a:endParaRPr/>
          </a:p>
        </p:txBody>
      </p:sp>
      <p:sp>
        <p:nvSpPr>
          <p:cNvPr id="323" name="Google Shape;323;p9"/>
          <p:cNvSpPr txBox="1"/>
          <p:nvPr/>
        </p:nvSpPr>
        <p:spPr>
          <a:xfrm>
            <a:off x="3566160" y="3200400"/>
            <a:ext cx="21945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Necesito acceder solo a la información de mis clientes asignados, para trabajar sin exponer datos de otros clientes.</a:t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6126480" y="1828800"/>
            <a:ext cx="2560320" cy="64008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6309360" y="18288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 aprobador</a:t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6126480" y="2468880"/>
            <a:ext cx="2560320" cy="35661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 txBox="1"/>
          <p:nvPr/>
        </p:nvSpPr>
        <p:spPr>
          <a:xfrm>
            <a:off x="6309360" y="2697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Para aprobar mi contenido</a:t>
            </a:r>
            <a:endParaRPr/>
          </a:p>
        </p:txBody>
      </p:sp>
      <p:sp>
        <p:nvSpPr>
          <p:cNvPr id="328" name="Google Shape;328;p9"/>
          <p:cNvSpPr txBox="1"/>
          <p:nvPr/>
        </p:nvSpPr>
        <p:spPr>
          <a:xfrm>
            <a:off x="6309360" y="3200400"/>
            <a:ext cx="21945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Necesito revisar y aprobar el contenido de mi marca desde un solo lugar, para tener trazabilidad de lo que autoricé.</a:t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8869680" y="1828800"/>
            <a:ext cx="2560320" cy="64008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9052559" y="18288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 lector</a:t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8869680" y="2468880"/>
            <a:ext cx="2560320" cy="35661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9052559" y="2697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Para estar informada</a:t>
            </a:r>
            <a:endParaRPr/>
          </a:p>
        </p:txBody>
      </p:sp>
      <p:sp>
        <p:nvSpPr>
          <p:cNvPr id="333" name="Google Shape;333;p9"/>
          <p:cNvSpPr txBox="1"/>
          <p:nvPr/>
        </p:nvSpPr>
        <p:spPr>
          <a:xfrm>
            <a:off x="9052559" y="3200400"/>
            <a:ext cx="21945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Necesito visualizar el estado de mi plan y mis métricas, para estar al tanto sin gestionar directamente el contenido.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5.4 · HISTORIAS DE USUARIO</a:t>
            </a:r>
            <a:endParaRPr/>
          </a:p>
        </p:txBody>
      </p:sp>
      <p:sp>
        <p:nvSpPr>
          <p:cNvPr id="339" name="Google Shape;339;p10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De la épica a la funcionalidad concreta</a:t>
            </a:r>
            <a:endParaRPr/>
          </a:p>
        </p:txBody>
      </p:sp>
      <p:sp>
        <p:nvSpPr>
          <p:cNvPr id="340" name="Google Shape;340;p10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341" name="Google Shape;341;p10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640080" y="1828800"/>
            <a:ext cx="1088136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868680" y="182880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Administradora</a:t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2743200" y="1883664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lang="en-US" sz="13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administradora</a:t>
            </a: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, quiero </a:t>
            </a:r>
            <a:r>
              <a:rPr lang="en-US" sz="13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ver el cumplimiento del plan de cada cliente en una sola pantalla</a:t>
            </a: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, para detectar riesgos de incumplimiento a tiempo.</a:t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640080" y="2679192"/>
            <a:ext cx="1088136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868680" y="2679192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Colaboradora</a:t>
            </a:r>
            <a:endParaRPr/>
          </a:p>
        </p:txBody>
      </p:sp>
      <p:sp>
        <p:nvSpPr>
          <p:cNvPr id="347" name="Google Shape;347;p10"/>
          <p:cNvSpPr txBox="1"/>
          <p:nvPr/>
        </p:nvSpPr>
        <p:spPr>
          <a:xfrm>
            <a:off x="2743200" y="2734056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lang="en-US" sz="13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colaboradora</a:t>
            </a: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, quiero </a:t>
            </a:r>
            <a:r>
              <a:rPr lang="en-US" sz="13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cargar contenido al calendario editorial y enviarlo a revisión</a:t>
            </a: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, para cumplir el ciclo semanal de aprobación.</a:t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640080" y="3529584"/>
            <a:ext cx="1088136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868680" y="3529584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Cliente aprobador</a:t>
            </a:r>
            <a:endParaRPr/>
          </a:p>
        </p:txBody>
      </p:sp>
      <p:sp>
        <p:nvSpPr>
          <p:cNvPr id="350" name="Google Shape;350;p10"/>
          <p:cNvSpPr txBox="1"/>
          <p:nvPr/>
        </p:nvSpPr>
        <p:spPr>
          <a:xfrm>
            <a:off x="2743200" y="3584448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lang="en-US" sz="13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cliente aprobador</a:t>
            </a: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, quiero </a:t>
            </a:r>
            <a:r>
              <a:rPr lang="en-US" sz="13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aprobar o solicitar cambios sobre el contenido enviado</a:t>
            </a: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, para mantener control sobre lo que se publica a nombre de mi marca.</a:t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640080" y="4379976"/>
            <a:ext cx="1088136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868680" y="4379976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Cliente lector</a:t>
            </a:r>
            <a:endParaRPr/>
          </a:p>
        </p:txBody>
      </p:sp>
      <p:sp>
        <p:nvSpPr>
          <p:cNvPr id="353" name="Google Shape;353;p10"/>
          <p:cNvSpPr txBox="1"/>
          <p:nvPr/>
        </p:nvSpPr>
        <p:spPr>
          <a:xfrm>
            <a:off x="2743200" y="443484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lang="en-US" sz="13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cliente lector</a:t>
            </a: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, quiero </a:t>
            </a:r>
            <a:r>
              <a:rPr lang="en-US" sz="13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descargar el reporte mensual de mi cuenta</a:t>
            </a: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, para revisar resultados sin depender de que me lo envíen.</a:t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640080" y="5230368"/>
            <a:ext cx="10881360" cy="74980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868680" y="523036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Prospecto</a:t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2743200" y="5285232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lang="en-US" sz="13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prospecto</a:t>
            </a: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, quiero </a:t>
            </a:r>
            <a:r>
              <a:rPr lang="en-US" sz="13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cotizar en línea respondiendo un formulario</a:t>
            </a: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, para recibir un diagnóstico y un plan sugerido en minutos.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6 · ARQUITECTURA</a:t>
            </a:r>
            <a:endParaRPr/>
          </a:p>
        </p:txBody>
      </p:sp>
      <p:sp>
        <p:nvSpPr>
          <p:cNvPr id="362" name="Google Shape;362;p11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Arquitectura de lo realmente construido</a:t>
            </a:r>
            <a:endParaRPr/>
          </a:p>
        </p:txBody>
      </p:sp>
      <p:sp>
        <p:nvSpPr>
          <p:cNvPr id="363" name="Google Shape;363;p11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364" name="Google Shape;364;p11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640080" y="1828800"/>
            <a:ext cx="2286000" cy="420624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 txBox="1"/>
          <p:nvPr/>
        </p:nvSpPr>
        <p:spPr>
          <a:xfrm>
            <a:off x="822960" y="19202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822960" y="2331720"/>
            <a:ext cx="192024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 txBox="1"/>
          <p:nvPr/>
        </p:nvSpPr>
        <p:spPr>
          <a:xfrm>
            <a:off x="822960" y="233172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Visitante / prospecto</a:t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822960" y="3044952"/>
            <a:ext cx="192024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822960" y="3044952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Cliente aprobador</a:t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822960" y="3758183"/>
            <a:ext cx="192024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 txBox="1"/>
          <p:nvPr/>
        </p:nvSpPr>
        <p:spPr>
          <a:xfrm>
            <a:off x="822960" y="3758183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Cliente lector</a:t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822960" y="4471416"/>
            <a:ext cx="192024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 txBox="1"/>
          <p:nvPr/>
        </p:nvSpPr>
        <p:spPr>
          <a:xfrm>
            <a:off x="822960" y="4471416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Colaboradora</a:t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822960" y="5184648"/>
            <a:ext cx="192024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 txBox="1"/>
          <p:nvPr/>
        </p:nvSpPr>
        <p:spPr>
          <a:xfrm>
            <a:off x="822960" y="5184648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Administradora</a:t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3291840" y="1828800"/>
            <a:ext cx="4663440" cy="420624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8E2A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 txBox="1"/>
          <p:nvPr/>
        </p:nvSpPr>
        <p:spPr>
          <a:xfrm>
            <a:off x="3474720" y="19202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APLICACIÓN WEB · Django 5.1 (Python)</a:t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3474720" y="2331720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3474720" y="2331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website</a:t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4937760" y="2331720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4937760" y="2331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crm</a:t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6400800" y="2331720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6400800" y="2331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clients</a:t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3474720" y="2807208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3474720" y="280720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catalog</a:t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4937760" y="2807208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4937760" y="280720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6400800" y="2807208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6400800" y="280720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accounts</a:t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3474720" y="3282696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3474720" y="328269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(aislamiento)</a:t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4937760" y="3282696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4937760" y="328269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6400800" y="3282696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8B8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 txBox="1"/>
          <p:nvPr/>
        </p:nvSpPr>
        <p:spPr>
          <a:xfrm>
            <a:off x="6400800" y="328269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3474720" y="3758183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8B8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3474720" y="3758183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reports</a:t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4937760" y="3758183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8B8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 txBox="1"/>
          <p:nvPr/>
        </p:nvSpPr>
        <p:spPr>
          <a:xfrm>
            <a:off x="4937760" y="3758183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/>
          </a:p>
        </p:txBody>
      </p:sp>
      <p:sp>
        <p:nvSpPr>
          <p:cNvPr id="401" name="Google Shape;401;p11"/>
          <p:cNvSpPr txBox="1"/>
          <p:nvPr/>
        </p:nvSpPr>
        <p:spPr>
          <a:xfrm>
            <a:off x="3474720" y="4297680"/>
            <a:ext cx="42976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Seguridad: 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django-allauth + 2FA (MFA), cuatro roles, TenantMiddleware y TenantManager: cada consulta se filtra por cliente.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Interfaz: 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plantillas Django + HTMX, Tailwind con colores de marca.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Reportes: 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WeasyPrint (PDF de cotización).</a:t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8321040" y="1828800"/>
            <a:ext cx="3200400" cy="7498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8321040" y="1828800"/>
            <a:ext cx="82296" cy="749808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 txBox="1"/>
          <p:nvPr/>
        </p:nvSpPr>
        <p:spPr>
          <a:xfrm>
            <a:off x="8549640" y="19019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Supabase · PostgreSQL 17 + pgvector</a:t>
            </a:r>
            <a:endParaRPr/>
          </a:p>
        </p:txBody>
      </p:sp>
      <p:sp>
        <p:nvSpPr>
          <p:cNvPr id="405" name="Google Shape;405;p11"/>
          <p:cNvSpPr txBox="1"/>
          <p:nvPr/>
        </p:nvSpPr>
        <p:spPr>
          <a:xfrm>
            <a:off x="8549640" y="22128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Base de datos única, con filtro por cliente</a:t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8321040" y="2679192"/>
            <a:ext cx="3200400" cy="7498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8321040" y="2679192"/>
            <a:ext cx="82296" cy="749808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 txBox="1"/>
          <p:nvPr/>
        </p:nvSpPr>
        <p:spPr>
          <a:xfrm>
            <a:off x="8549640" y="275234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Supabase Storage (API S3)</a:t>
            </a:r>
            <a:endParaRPr/>
          </a:p>
        </p:txBody>
      </p:sp>
      <p:sp>
        <p:nvSpPr>
          <p:cNvPr id="409" name="Google Shape;409;p11"/>
          <p:cNvSpPr txBox="1"/>
          <p:nvPr/>
        </p:nvSpPr>
        <p:spPr>
          <a:xfrm>
            <a:off x="8549640" y="30632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Documentos del cliente y archivos</a:t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8321040" y="3529584"/>
            <a:ext cx="3200400" cy="7498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8321040" y="3529584"/>
            <a:ext cx="82296" cy="7498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 txBox="1"/>
          <p:nvPr/>
        </p:nvSpPr>
        <p:spPr>
          <a:xfrm>
            <a:off x="8549640" y="360273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Upstash Redis + Celery</a:t>
            </a:r>
            <a:endParaRPr/>
          </a:p>
        </p:txBody>
      </p:sp>
      <p:sp>
        <p:nvSpPr>
          <p:cNvPr id="413" name="Google Shape;413;p11"/>
          <p:cNvSpPr txBox="1"/>
          <p:nvPr/>
        </p:nvSpPr>
        <p:spPr>
          <a:xfrm>
            <a:off x="8549640" y="391363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Cola de tareas (configurada)</a:t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8321040" y="4379976"/>
            <a:ext cx="3200400" cy="7498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8321040" y="4379976"/>
            <a:ext cx="82296" cy="749808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 txBox="1"/>
          <p:nvPr/>
        </p:nvSpPr>
        <p:spPr>
          <a:xfrm>
            <a:off x="8549640" y="44531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Gemini (IA)</a:t>
            </a:r>
            <a:endParaRPr/>
          </a:p>
        </p:txBody>
      </p:sp>
      <p:sp>
        <p:nvSpPr>
          <p:cNvPr id="417" name="Google Shape;417;p11"/>
          <p:cNvSpPr txBox="1"/>
          <p:nvPr/>
        </p:nvSpPr>
        <p:spPr>
          <a:xfrm>
            <a:off x="8549640" y="476402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Conectada (Google AI Studio)</a:t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8321040" y="5230368"/>
            <a:ext cx="3200400" cy="7498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8321040" y="5230368"/>
            <a:ext cx="82296" cy="749808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 txBox="1"/>
          <p:nvPr/>
        </p:nvSpPr>
        <p:spPr>
          <a:xfrm>
            <a:off x="8549640" y="53035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GitHub Actions (CI)</a:t>
            </a:r>
            <a:endParaRPr/>
          </a:p>
        </p:txBody>
      </p:sp>
      <p:sp>
        <p:nvSpPr>
          <p:cNvPr id="421" name="Google Shape;421;p11"/>
          <p:cNvSpPr txBox="1"/>
          <p:nvPr/>
        </p:nvSpPr>
        <p:spPr>
          <a:xfrm>
            <a:off x="8549640" y="5614416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Ejecuta las pruebas en cada push</a:t>
            </a:r>
            <a:endParaRPr/>
          </a:p>
        </p:txBody>
      </p:sp>
      <p:cxnSp>
        <p:nvCxnSpPr>
          <p:cNvPr id="422" name="Google Shape;422;p11"/>
          <p:cNvCxnSpPr/>
          <p:nvPr/>
        </p:nvCxnSpPr>
        <p:spPr>
          <a:xfrm>
            <a:off x="2926080" y="3931920"/>
            <a:ext cx="365760" cy="0"/>
          </a:xfrm>
          <a:prstGeom prst="straightConnector1">
            <a:avLst/>
          </a:prstGeom>
          <a:noFill/>
          <a:ln w="25400" cap="flat" cmpd="sng">
            <a:solidFill>
              <a:srgbClr val="8E2A4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23" name="Google Shape;423;p11"/>
          <p:cNvCxnSpPr/>
          <p:nvPr/>
        </p:nvCxnSpPr>
        <p:spPr>
          <a:xfrm>
            <a:off x="7955279" y="3931920"/>
            <a:ext cx="365761" cy="0"/>
          </a:xfrm>
          <a:prstGeom prst="straightConnector1">
            <a:avLst/>
          </a:prstGeom>
          <a:noFill/>
          <a:ln w="25400" cap="flat" cmpd="sng">
            <a:solidFill>
              <a:srgbClr val="8E2A4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424" name="Google Shape;424;p11"/>
          <p:cNvSpPr txBox="1"/>
          <p:nvPr/>
        </p:nvSpPr>
        <p:spPr>
          <a:xfrm>
            <a:off x="640080" y="6108192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Verde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construido · </a:t>
            </a:r>
            <a:r>
              <a:rPr lang="en-US" sz="1100" b="1" i="0" u="none" strike="noStrike" cap="none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naranja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pendiente de configurar · </a:t>
            </a: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gris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planificado (Sprints 3–4). Hosting: por definir.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7 · MODELO DE DATOS</a:t>
            </a:r>
            <a:endParaRPr/>
          </a:p>
        </p:txBody>
      </p:sp>
      <p:sp>
        <p:nvSpPr>
          <p:cNvPr id="430" name="Google Shape;430;p12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Modelo de datos: 17 entidades en 5 dominios</a:t>
            </a:r>
            <a:endParaRPr/>
          </a:p>
        </p:txBody>
      </p:sp>
      <p:sp>
        <p:nvSpPr>
          <p:cNvPr id="431" name="Google Shape;431;p12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432" name="Google Shape;432;p12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640080" y="1828800"/>
            <a:ext cx="3566160" cy="21031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640080" y="1828800"/>
            <a:ext cx="3566160" cy="347472"/>
          </a:xfrm>
          <a:prstGeom prst="rect">
            <a:avLst/>
          </a:prstGeom>
          <a:solidFill>
            <a:srgbClr val="8E2A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 txBox="1"/>
          <p:nvPr/>
        </p:nvSpPr>
        <p:spPr>
          <a:xfrm>
            <a:off x="777240" y="18288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y auditoría</a:t>
            </a:r>
            <a:endParaRPr/>
          </a:p>
        </p:txBody>
      </p:sp>
      <p:sp>
        <p:nvSpPr>
          <p:cNvPr id="436" name="Google Shape;436;p12"/>
          <p:cNvSpPr txBox="1"/>
          <p:nvPr/>
        </p:nvSpPr>
        <p:spPr>
          <a:xfrm>
            <a:off x="777240" y="2267712"/>
            <a:ext cx="3291840" cy="160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rol, cliente, clientes asignados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RegistroAuditoria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usuario, acción, fecha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RegistroIA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usuario, prospecto</a:t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4343400" y="1828800"/>
            <a:ext cx="3566160" cy="21031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4343400" y="1828800"/>
            <a:ext cx="3566160" cy="347472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 txBox="1"/>
          <p:nvPr/>
        </p:nvSpPr>
        <p:spPr>
          <a:xfrm>
            <a:off x="4480560" y="18288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Catálogo</a:t>
            </a:r>
            <a:endParaRPr/>
          </a:p>
        </p:txBody>
      </p:sp>
      <p:sp>
        <p:nvSpPr>
          <p:cNvPr id="440" name="Google Shape;440;p12"/>
          <p:cNvSpPr txBox="1"/>
          <p:nvPr/>
        </p:nvSpPr>
        <p:spPr>
          <a:xfrm>
            <a:off x="4480560" y="2267712"/>
            <a:ext cx="3291840" cy="160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precio, entregables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PlanEntregable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plan ↔ tipo, cantidad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TipoEntregable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Servicio</a:t>
            </a:r>
            <a:endParaRPr/>
          </a:p>
        </p:txBody>
      </p:sp>
      <p:sp>
        <p:nvSpPr>
          <p:cNvPr id="441" name="Google Shape;441;p12"/>
          <p:cNvSpPr/>
          <p:nvPr/>
        </p:nvSpPr>
        <p:spPr>
          <a:xfrm>
            <a:off x="8046720" y="1828800"/>
            <a:ext cx="3474720" cy="288036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8046720" y="1828800"/>
            <a:ext cx="3474720" cy="347472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 txBox="1"/>
          <p:nvPr/>
        </p:nvSpPr>
        <p:spPr>
          <a:xfrm>
            <a:off x="8183880" y="182880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comercial (CRM)</a:t>
            </a:r>
            <a:endParaRPr/>
          </a:p>
        </p:txBody>
      </p:sp>
      <p:sp>
        <p:nvSpPr>
          <p:cNvPr id="444" name="Google Shape;444;p12"/>
          <p:cNvSpPr txBox="1"/>
          <p:nvPr/>
        </p:nvSpPr>
        <p:spPr>
          <a:xfrm>
            <a:off x="8183880" y="2267712"/>
            <a:ext cx="3200400" cy="2377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Prospecto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etapa, origen, responsable, plan sugerido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Interaccion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prospecto, autor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Tarea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responsable, prospecto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Cotizacion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prospecto, totales, estado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CotizacionItem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plan o servicio</a:t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640080" y="4069080"/>
            <a:ext cx="3566160" cy="21031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640080" y="4069080"/>
            <a:ext cx="3566160" cy="347472"/>
          </a:xfrm>
          <a:prstGeom prst="rect">
            <a:avLst/>
          </a:prstGeom>
          <a:solidFill>
            <a:srgbClr val="3B6F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 txBox="1"/>
          <p:nvPr/>
        </p:nvSpPr>
        <p:spPr>
          <a:xfrm>
            <a:off x="777240" y="406908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 (aislado por cliente)</a:t>
            </a:r>
            <a:endParaRPr/>
          </a:p>
        </p:txBody>
      </p:sp>
      <p:sp>
        <p:nvSpPr>
          <p:cNvPr id="448" name="Google Shape;448;p12"/>
          <p:cNvSpPr txBox="1"/>
          <p:nvPr/>
        </p:nvSpPr>
        <p:spPr>
          <a:xfrm>
            <a:off x="777240" y="4507992"/>
            <a:ext cx="3291840" cy="160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ficha, plan, contacto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DocumentoCliente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archivo, tipo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KPICliente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meta, valor inicial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MedicionKPI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fecha, valor</a:t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4343400" y="4069080"/>
            <a:ext cx="3566160" cy="114300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4343400" y="4069080"/>
            <a:ext cx="3566160" cy="34747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 txBox="1"/>
          <p:nvPr/>
        </p:nvSpPr>
        <p:spPr>
          <a:xfrm>
            <a:off x="4480560" y="406908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Contenido del sitio</a:t>
            </a:r>
            <a:endParaRPr/>
          </a:p>
        </p:txBody>
      </p:sp>
      <p:sp>
        <p:nvSpPr>
          <p:cNvPr id="452" name="Google Shape;452;p12"/>
          <p:cNvSpPr txBox="1"/>
          <p:nvPr/>
        </p:nvSpPr>
        <p:spPr>
          <a:xfrm>
            <a:off x="4480560" y="450799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Contenido</a:t>
            </a: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 · CMS: título, texto, publicado</a:t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8046720" y="4846320"/>
            <a:ext cx="3474720" cy="1325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8183879" y="4919472"/>
            <a:ext cx="32004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Relaciones clave</a:t>
            </a:r>
            <a:endParaRPr/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Prospecto → Cotización → Ítems</a:t>
            </a:r>
            <a:endParaRPr/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Prospecto → Cliente (conversión 1 a 1)</a:t>
            </a:r>
            <a:endParaRPr/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Cliente → Documentos, KPIs → Mediciones</a:t>
            </a:r>
            <a:endParaRPr/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Cliente, Documento, KPI y Medición se filtran por cliente (TenantModel)</a:t>
            </a:r>
            <a:endParaRPr/>
          </a:p>
        </p:txBody>
      </p:sp>
      <p:sp>
        <p:nvSpPr>
          <p:cNvPr id="455" name="Google Shape;455;p12"/>
          <p:cNvSpPr txBox="1"/>
          <p:nvPr/>
        </p:nvSpPr>
        <p:spPr>
          <a:xfrm>
            <a:off x="4343400" y="534924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Fuente: modelos reales del código (Django). El Anexo de Modelo de Datos del Sprint 1 quedó desactualizado: no incluye ficha, documentos ni KPIs del cliente.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8 · METODOLOGÍA</a:t>
            </a:r>
            <a:endParaRPr/>
          </a:p>
        </p:txBody>
      </p:sp>
      <p:sp>
        <p:nvSpPr>
          <p:cNvPr id="461" name="Google Shape;461;p1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Scrum, en seis sprints y 18 semanas</a:t>
            </a:r>
            <a:endParaRPr/>
          </a:p>
        </p:txBody>
      </p:sp>
      <p:sp>
        <p:nvSpPr>
          <p:cNvPr id="462" name="Google Shape;462;p13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463" name="Google Shape;463;p13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464" name="Google Shape;464;p13"/>
          <p:cNvSpPr txBox="1"/>
          <p:nvPr/>
        </p:nvSpPr>
        <p:spPr>
          <a:xfrm>
            <a:off x="640080" y="178308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Marco de trabajo ágil e iterativo. El proyecto se organiza en 6 sprints (S0 a S5) a lo largo de 18 semanas, cada uno cerrado por una revisión con acta y, en las fases, por un hito verificable (3 hitos).</a:t>
            </a:r>
            <a:endParaRPr/>
          </a:p>
        </p:txBody>
      </p:sp>
      <p:sp>
        <p:nvSpPr>
          <p:cNvPr id="465" name="Google Shape;465;p13"/>
          <p:cNvSpPr/>
          <p:nvPr/>
        </p:nvSpPr>
        <p:spPr>
          <a:xfrm>
            <a:off x="640080" y="303580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 txBox="1"/>
          <p:nvPr/>
        </p:nvSpPr>
        <p:spPr>
          <a:xfrm>
            <a:off x="914400" y="292608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Entrega temprana y continua</a:t>
            </a:r>
            <a:endParaRPr/>
          </a:p>
        </p:txBody>
      </p:sp>
      <p:sp>
        <p:nvSpPr>
          <p:cNvPr id="467" name="Google Shape;467;p13"/>
          <p:cNvSpPr txBox="1"/>
          <p:nvPr/>
        </p:nvSpPr>
        <p:spPr>
          <a:xfrm>
            <a:off x="914400" y="3218688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Cada sprint cierra con una fase o capacidad usable.</a:t>
            </a: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640080" y="404164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 txBox="1"/>
          <p:nvPr/>
        </p:nvSpPr>
        <p:spPr>
          <a:xfrm>
            <a:off x="914400" y="39319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Hitos verificables</a:t>
            </a:r>
            <a:endParaRPr/>
          </a:p>
        </p:txBody>
      </p:sp>
      <p:sp>
        <p:nvSpPr>
          <p:cNvPr id="470" name="Google Shape;470;p13"/>
          <p:cNvSpPr txBox="1"/>
          <p:nvPr/>
        </p:nvSpPr>
        <p:spPr>
          <a:xfrm>
            <a:off x="914400" y="4224528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3 hitos: proyecto definido, gestión comercial y acta de aceptación.</a:t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640080" y="504748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 txBox="1"/>
          <p:nvPr/>
        </p:nvSpPr>
        <p:spPr>
          <a:xfrm>
            <a:off x="914400" y="493776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Iterativo e incremental</a:t>
            </a:r>
            <a:endParaRPr/>
          </a:p>
        </p:txBody>
      </p:sp>
      <p:sp>
        <p:nvSpPr>
          <p:cNvPr id="473" name="Google Shape;473;p13"/>
          <p:cNvSpPr txBox="1"/>
          <p:nvPr/>
        </p:nvSpPr>
        <p:spPr>
          <a:xfrm>
            <a:off x="914400" y="5230368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El alcance de las fases 1 a 3 se construye por etapas.</a:t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6858000" y="1737360"/>
            <a:ext cx="4663440" cy="443484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 txBox="1"/>
          <p:nvPr/>
        </p:nvSpPr>
        <p:spPr>
          <a:xfrm>
            <a:off x="7132320" y="1920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SPRINTS DEL PROYECTO</a:t>
            </a:r>
            <a:endParaRPr/>
          </a:p>
        </p:txBody>
      </p:sp>
      <p:sp>
        <p:nvSpPr>
          <p:cNvPr id="476" name="Google Shape;476;p13"/>
          <p:cNvSpPr txBox="1"/>
          <p:nvPr/>
        </p:nvSpPr>
        <p:spPr>
          <a:xfrm>
            <a:off x="7132320" y="24231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S0</a:t>
            </a:r>
            <a:endParaRPr/>
          </a:p>
        </p:txBody>
      </p:sp>
      <p:sp>
        <p:nvSpPr>
          <p:cNvPr id="477" name="Google Shape;477;p13"/>
          <p:cNvSpPr txBox="1"/>
          <p:nvPr/>
        </p:nvSpPr>
        <p:spPr>
          <a:xfrm>
            <a:off x="7772400" y="24688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Levantamiento y diseño</a:t>
            </a:r>
            <a:endParaRPr/>
          </a:p>
        </p:txBody>
      </p:sp>
      <p:sp>
        <p:nvSpPr>
          <p:cNvPr id="478" name="Google Shape;478;p13"/>
          <p:cNvSpPr txBox="1"/>
          <p:nvPr/>
        </p:nvSpPr>
        <p:spPr>
          <a:xfrm>
            <a:off x="7132320" y="302666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S1</a:t>
            </a:r>
            <a:endParaRPr/>
          </a:p>
        </p:txBody>
      </p:sp>
      <p:sp>
        <p:nvSpPr>
          <p:cNvPr id="479" name="Google Shape;479;p13"/>
          <p:cNvSpPr txBox="1"/>
          <p:nvPr/>
        </p:nvSpPr>
        <p:spPr>
          <a:xfrm>
            <a:off x="7772400" y="307238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Base del sistema y sitio corporativo</a:t>
            </a:r>
            <a:endParaRPr/>
          </a:p>
        </p:txBody>
      </p:sp>
      <p:sp>
        <p:nvSpPr>
          <p:cNvPr id="480" name="Google Shape;480;p13"/>
          <p:cNvSpPr txBox="1"/>
          <p:nvPr/>
        </p:nvSpPr>
        <p:spPr>
          <a:xfrm>
            <a:off x="7132320" y="363016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S2</a:t>
            </a:r>
            <a:endParaRPr/>
          </a:p>
        </p:txBody>
      </p:sp>
      <p:sp>
        <p:nvSpPr>
          <p:cNvPr id="481" name="Google Shape;481;p13"/>
          <p:cNvSpPr txBox="1"/>
          <p:nvPr/>
        </p:nvSpPr>
        <p:spPr>
          <a:xfrm>
            <a:off x="7772400" y="367588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Gestión comercial</a:t>
            </a:r>
            <a:endParaRPr/>
          </a:p>
        </p:txBody>
      </p:sp>
      <p:sp>
        <p:nvSpPr>
          <p:cNvPr id="482" name="Google Shape;482;p13"/>
          <p:cNvSpPr txBox="1"/>
          <p:nvPr/>
        </p:nvSpPr>
        <p:spPr>
          <a:xfrm>
            <a:off x="7132320" y="4233672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S3</a:t>
            </a:r>
            <a:endParaRPr/>
          </a:p>
        </p:txBody>
      </p:sp>
      <p:sp>
        <p:nvSpPr>
          <p:cNvPr id="483" name="Google Shape;483;p13"/>
          <p:cNvSpPr txBox="1"/>
          <p:nvPr/>
        </p:nvSpPr>
        <p:spPr>
          <a:xfrm>
            <a:off x="7772400" y="427939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Portal de clientes</a:t>
            </a:r>
            <a:endParaRPr/>
          </a:p>
        </p:txBody>
      </p:sp>
      <p:sp>
        <p:nvSpPr>
          <p:cNvPr id="484" name="Google Shape;484;p13"/>
          <p:cNvSpPr txBox="1"/>
          <p:nvPr/>
        </p:nvSpPr>
        <p:spPr>
          <a:xfrm>
            <a:off x="7132320" y="4837176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S4</a:t>
            </a:r>
            <a:endParaRPr/>
          </a:p>
        </p:txBody>
      </p:sp>
      <p:sp>
        <p:nvSpPr>
          <p:cNvPr id="485" name="Google Shape;485;p13"/>
          <p:cNvSpPr txBox="1"/>
          <p:nvPr/>
        </p:nvSpPr>
        <p:spPr>
          <a:xfrm>
            <a:off x="7772400" y="488289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Métricas e IA</a:t>
            </a:r>
            <a:endParaRPr/>
          </a:p>
        </p:txBody>
      </p:sp>
      <p:sp>
        <p:nvSpPr>
          <p:cNvPr id="486" name="Google Shape;486;p13"/>
          <p:cNvSpPr txBox="1"/>
          <p:nvPr/>
        </p:nvSpPr>
        <p:spPr>
          <a:xfrm>
            <a:off x="7132320" y="54406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S5</a:t>
            </a:r>
            <a:endParaRPr/>
          </a:p>
        </p:txBody>
      </p:sp>
      <p:sp>
        <p:nvSpPr>
          <p:cNvPr id="487" name="Google Shape;487;p13"/>
          <p:cNvSpPr txBox="1"/>
          <p:nvPr/>
        </p:nvSpPr>
        <p:spPr>
          <a:xfrm>
            <a:off x="7772400" y="54864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Pruebas, despliegue y cierre</a:t>
            </a:r>
            <a:endParaRPr/>
          </a:p>
        </p:txBody>
      </p:sp>
      <p:sp>
        <p:nvSpPr>
          <p:cNvPr id="488" name="Google Shape;488;p13"/>
          <p:cNvSpPr txBox="1"/>
          <p:nvPr/>
        </p:nvSpPr>
        <p:spPr>
          <a:xfrm>
            <a:off x="7132320" y="57607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Cada sprint produce 9 documentos (ver tema 10).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4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9 · ROLES</a:t>
            </a:r>
            <a:endParaRPr/>
          </a:p>
        </p:txBody>
      </p:sp>
      <p:sp>
        <p:nvSpPr>
          <p:cNvPr id="494" name="Google Shape;494;p14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Roles del equipo</a:t>
            </a:r>
            <a:endParaRPr/>
          </a:p>
        </p:txBody>
      </p:sp>
      <p:sp>
        <p:nvSpPr>
          <p:cNvPr id="495" name="Google Shape;495;p14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496" name="Google Shape;496;p14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97" name="Google Shape;497;p14"/>
          <p:cNvSpPr/>
          <p:nvPr/>
        </p:nvSpPr>
        <p:spPr>
          <a:xfrm>
            <a:off x="640080" y="1828800"/>
            <a:ext cx="2560320" cy="420624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1417319" y="2103120"/>
            <a:ext cx="1005840" cy="1005840"/>
          </a:xfrm>
          <a:prstGeom prst="ellipse">
            <a:avLst/>
          </a:prstGeom>
          <a:solidFill>
            <a:srgbClr val="5628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 txBox="1"/>
          <p:nvPr/>
        </p:nvSpPr>
        <p:spPr>
          <a:xfrm>
            <a:off x="1417319" y="210312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FG</a:t>
            </a:r>
            <a:endParaRPr/>
          </a:p>
        </p:txBody>
      </p:sp>
      <p:sp>
        <p:nvSpPr>
          <p:cNvPr id="500" name="Google Shape;500;p14"/>
          <p:cNvSpPr txBox="1"/>
          <p:nvPr/>
        </p:nvSpPr>
        <p:spPr>
          <a:xfrm>
            <a:off x="77724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Felipe Gutiérrez</a:t>
            </a:r>
            <a:endParaRPr/>
          </a:p>
        </p:txBody>
      </p:sp>
      <p:sp>
        <p:nvSpPr>
          <p:cNvPr id="501" name="Google Shape;501;p14"/>
          <p:cNvSpPr txBox="1"/>
          <p:nvPr/>
        </p:nvSpPr>
        <p:spPr>
          <a:xfrm>
            <a:off x="777240" y="365760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/>
          </a:p>
        </p:txBody>
      </p:sp>
      <p:sp>
        <p:nvSpPr>
          <p:cNvPr id="502" name="Google Shape;502;p14"/>
          <p:cNvSpPr txBox="1"/>
          <p:nvPr/>
        </p:nvSpPr>
        <p:spPr>
          <a:xfrm>
            <a:off x="822959" y="4343400"/>
            <a:ext cx="219456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Facilita el proceso, mantiene los documentos del sprint y desarrolla.</a:t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3383280" y="1828800"/>
            <a:ext cx="2560320" cy="420624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4160520" y="2103120"/>
            <a:ext cx="1005840" cy="1005840"/>
          </a:xfrm>
          <a:prstGeom prst="ellipse">
            <a:avLst/>
          </a:prstGeom>
          <a:solidFill>
            <a:srgbClr val="5628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 txBox="1"/>
          <p:nvPr/>
        </p:nvSpPr>
        <p:spPr>
          <a:xfrm>
            <a:off x="4160520" y="210312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endParaRPr/>
          </a:p>
        </p:txBody>
      </p:sp>
      <p:sp>
        <p:nvSpPr>
          <p:cNvPr id="506" name="Google Shape;506;p14"/>
          <p:cNvSpPr txBox="1"/>
          <p:nvPr/>
        </p:nvSpPr>
        <p:spPr>
          <a:xfrm>
            <a:off x="352044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Esteban Morales</a:t>
            </a:r>
            <a:endParaRPr/>
          </a:p>
        </p:txBody>
      </p:sp>
      <p:sp>
        <p:nvSpPr>
          <p:cNvPr id="507" name="Google Shape;507;p14"/>
          <p:cNvSpPr txBox="1"/>
          <p:nvPr/>
        </p:nvSpPr>
        <p:spPr>
          <a:xfrm>
            <a:off x="3520440" y="365760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Developer · contacto con la agencia</a:t>
            </a:r>
            <a:endParaRPr/>
          </a:p>
        </p:txBody>
      </p:sp>
      <p:sp>
        <p:nvSpPr>
          <p:cNvPr id="508" name="Google Shape;508;p14"/>
          <p:cNvSpPr txBox="1"/>
          <p:nvPr/>
        </p:nvSpPr>
        <p:spPr>
          <a:xfrm>
            <a:off x="3566160" y="4343400"/>
            <a:ext cx="219456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Canal directo con Agencia Cosmopolitan y desarrollo.</a:t>
            </a: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6126480" y="1828800"/>
            <a:ext cx="2560320" cy="420624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6903720" y="2103120"/>
            <a:ext cx="1005840" cy="1005840"/>
          </a:xfrm>
          <a:prstGeom prst="ellipse">
            <a:avLst/>
          </a:prstGeom>
          <a:solidFill>
            <a:srgbClr val="5628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6903720" y="210312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CC</a:t>
            </a:r>
            <a:endParaRPr/>
          </a:p>
        </p:txBody>
      </p:sp>
      <p:sp>
        <p:nvSpPr>
          <p:cNvPr id="512" name="Google Shape;512;p14"/>
          <p:cNvSpPr txBox="1"/>
          <p:nvPr/>
        </p:nvSpPr>
        <p:spPr>
          <a:xfrm>
            <a:off x="626364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Christian Cuadra</a:t>
            </a:r>
            <a:endParaRPr/>
          </a:p>
        </p:txBody>
      </p:sp>
      <p:sp>
        <p:nvSpPr>
          <p:cNvPr id="513" name="Google Shape;513;p14"/>
          <p:cNvSpPr txBox="1"/>
          <p:nvPr/>
        </p:nvSpPr>
        <p:spPr>
          <a:xfrm>
            <a:off x="6263640" y="365760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/>
          </a:p>
        </p:txBody>
      </p:sp>
      <p:sp>
        <p:nvSpPr>
          <p:cNvPr id="514" name="Google Shape;514;p14"/>
          <p:cNvSpPr txBox="1"/>
          <p:nvPr/>
        </p:nvSpPr>
        <p:spPr>
          <a:xfrm>
            <a:off x="6309360" y="4343400"/>
            <a:ext cx="219456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Desarrollo; guía propuesto del aislamiento por colaboradora (PC-AUT-04).</a:t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8869680" y="1828800"/>
            <a:ext cx="2560320" cy="420624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9646919" y="2103120"/>
            <a:ext cx="1005840" cy="1005840"/>
          </a:xfrm>
          <a:prstGeom prst="ellipse">
            <a:avLst/>
          </a:prstGeom>
          <a:solidFill>
            <a:srgbClr val="8B8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9646919" y="2436695"/>
            <a:ext cx="100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endParaRPr/>
          </a:p>
        </p:txBody>
      </p:sp>
      <p:sp>
        <p:nvSpPr>
          <p:cNvPr id="518" name="Google Shape;518;p14"/>
          <p:cNvSpPr txBox="1"/>
          <p:nvPr/>
        </p:nvSpPr>
        <p:spPr>
          <a:xfrm>
            <a:off x="9006840" y="3291840"/>
            <a:ext cx="2286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Pía Mercado</a:t>
            </a:r>
            <a:endParaRPr/>
          </a:p>
        </p:txBody>
      </p:sp>
      <p:sp>
        <p:nvSpPr>
          <p:cNvPr id="519" name="Google Shape;519;p14"/>
          <p:cNvSpPr txBox="1"/>
          <p:nvPr/>
        </p:nvSpPr>
        <p:spPr>
          <a:xfrm>
            <a:off x="9006840" y="3657600"/>
            <a:ext cx="228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>
              <a:solidFill>
                <a:srgbClr val="1D8F73"/>
              </a:solidFill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9052559" y="4343400"/>
            <a:ext cx="219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Representante de Agencia Cosmopolitan</a:t>
            </a:r>
            <a:endParaRPr/>
          </a:p>
        </p:txBody>
      </p:sp>
      <p:sp>
        <p:nvSpPr>
          <p:cNvPr id="521" name="Google Shape;521;p14"/>
          <p:cNvSpPr txBox="1"/>
          <p:nvPr/>
        </p:nvSpPr>
        <p:spPr>
          <a:xfrm>
            <a:off x="640080" y="6108192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Stakeholders de la agencia: Pía Mercado y Valentina Frías (participaron en la revisión del Sprint 1).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5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10 · EVIDENCIAS POR SPRINT</a:t>
            </a:r>
            <a:endParaRPr/>
          </a:p>
        </p:txBody>
      </p:sp>
      <p:sp>
        <p:nvSpPr>
          <p:cNvPr id="527" name="Google Shape;527;p15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Evidencias por cada Sprint terminado y en curso</a:t>
            </a:r>
            <a:endParaRPr/>
          </a:p>
        </p:txBody>
      </p:sp>
      <p:sp>
        <p:nvSpPr>
          <p:cNvPr id="528" name="Google Shape;528;p15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529" name="Google Shape;529;p1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640080" y="1828800"/>
            <a:ext cx="3474720" cy="329184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640080" y="1828800"/>
            <a:ext cx="3474720" cy="82296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 txBox="1"/>
          <p:nvPr/>
        </p:nvSpPr>
        <p:spPr>
          <a:xfrm>
            <a:off x="868680" y="20574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Sprint 0</a:t>
            </a:r>
            <a:endParaRPr/>
          </a:p>
        </p:txBody>
      </p:sp>
      <p:sp>
        <p:nvSpPr>
          <p:cNvPr id="533" name="Google Shape;533;p15"/>
          <p:cNvSpPr txBox="1"/>
          <p:nvPr/>
        </p:nvSpPr>
        <p:spPr>
          <a:xfrm>
            <a:off x="868680" y="2606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Levantamiento y diseño</a:t>
            </a:r>
            <a:endParaRPr/>
          </a:p>
        </p:txBody>
      </p:sp>
      <p:sp>
        <p:nvSpPr>
          <p:cNvPr id="534" name="Google Shape;534;p15"/>
          <p:cNvSpPr txBox="1"/>
          <p:nvPr/>
        </p:nvSpPr>
        <p:spPr>
          <a:xfrm>
            <a:off x="868680" y="29260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10 ago – 4 sep 2026</a:t>
            </a: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868680" y="329184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1D8F73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Terminado</a:t>
            </a:r>
            <a:endParaRPr/>
          </a:p>
        </p:txBody>
      </p:sp>
      <p:sp>
        <p:nvSpPr>
          <p:cNvPr id="536" name="Google Shape;536;p15"/>
          <p:cNvSpPr txBox="1"/>
          <p:nvPr/>
        </p:nvSpPr>
        <p:spPr>
          <a:xfrm>
            <a:off x="868680" y="3749039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3 / 3 pts</a:t>
            </a:r>
            <a:endParaRPr/>
          </a:p>
        </p:txBody>
      </p:sp>
      <p:sp>
        <p:nvSpPr>
          <p:cNvPr id="537" name="Google Shape;537;p15"/>
          <p:cNvSpPr txBox="1"/>
          <p:nvPr/>
        </p:nvSpPr>
        <p:spPr>
          <a:xfrm>
            <a:off x="868680" y="434340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PC-TEC-01 · Modelo de BD trasladado a S1</a:t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4343400" y="1828800"/>
            <a:ext cx="3474720" cy="329184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4343400" y="1828800"/>
            <a:ext cx="3474720" cy="82296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 txBox="1"/>
          <p:nvPr/>
        </p:nvSpPr>
        <p:spPr>
          <a:xfrm>
            <a:off x="4572000" y="20574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Sprint 1</a:t>
            </a:r>
            <a:endParaRPr/>
          </a:p>
        </p:txBody>
      </p:sp>
      <p:sp>
        <p:nvSpPr>
          <p:cNvPr id="541" name="Google Shape;541;p15"/>
          <p:cNvSpPr txBox="1"/>
          <p:nvPr/>
        </p:nvSpPr>
        <p:spPr>
          <a:xfrm>
            <a:off x="4572000" y="2606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Base del sistema y sitio</a:t>
            </a:r>
            <a:endParaRPr/>
          </a:p>
        </p:txBody>
      </p:sp>
      <p:sp>
        <p:nvSpPr>
          <p:cNvPr id="542" name="Google Shape;542;p15"/>
          <p:cNvSpPr txBox="1"/>
          <p:nvPr/>
        </p:nvSpPr>
        <p:spPr>
          <a:xfrm>
            <a:off x="4572000" y="29260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7 sep – 2 oct 2026</a:t>
            </a: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4572000" y="329184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1D8F73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Terminado</a:t>
            </a:r>
            <a:endParaRPr/>
          </a:p>
        </p:txBody>
      </p:sp>
      <p:sp>
        <p:nvSpPr>
          <p:cNvPr id="544" name="Google Shape;544;p15"/>
          <p:cNvSpPr txBox="1"/>
          <p:nvPr/>
        </p:nvSpPr>
        <p:spPr>
          <a:xfrm>
            <a:off x="4572000" y="3749039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60 / 65 pts</a:t>
            </a:r>
            <a:endParaRPr/>
          </a:p>
        </p:txBody>
      </p:sp>
      <p:sp>
        <p:nvSpPr>
          <p:cNvPr id="545" name="Google Shape;545;p15"/>
          <p:cNvSpPr txBox="1"/>
          <p:nvPr/>
        </p:nvSpPr>
        <p:spPr>
          <a:xfrm>
            <a:off x="4572000" y="434340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3 historias (24 pts) trasladadas a S2; PC-TEC-03 fuera de alcance</a:t>
            </a:r>
            <a:endParaRPr/>
          </a:p>
        </p:txBody>
      </p:sp>
      <p:sp>
        <p:nvSpPr>
          <p:cNvPr id="546" name="Google Shape;546;p15"/>
          <p:cNvSpPr/>
          <p:nvPr/>
        </p:nvSpPr>
        <p:spPr>
          <a:xfrm>
            <a:off x="8046719" y="1828800"/>
            <a:ext cx="3474720" cy="329184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8046719" y="1828800"/>
            <a:ext cx="3474720" cy="82296"/>
          </a:xfrm>
          <a:prstGeom prst="rect">
            <a:avLst/>
          </a:prstGeom>
          <a:solidFill>
            <a:srgbClr val="D97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 txBox="1"/>
          <p:nvPr/>
        </p:nvSpPr>
        <p:spPr>
          <a:xfrm>
            <a:off x="8275319" y="20574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Sprint 2</a:t>
            </a:r>
            <a:endParaRPr/>
          </a:p>
        </p:txBody>
      </p:sp>
      <p:sp>
        <p:nvSpPr>
          <p:cNvPr id="549" name="Google Shape;549;p15"/>
          <p:cNvSpPr txBox="1"/>
          <p:nvPr/>
        </p:nvSpPr>
        <p:spPr>
          <a:xfrm>
            <a:off x="8275319" y="2606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Gestión comercial</a:t>
            </a:r>
            <a:endParaRPr/>
          </a:p>
        </p:txBody>
      </p:sp>
      <p:sp>
        <p:nvSpPr>
          <p:cNvPr id="550" name="Google Shape;550;p15"/>
          <p:cNvSpPr txBox="1"/>
          <p:nvPr/>
        </p:nvSpPr>
        <p:spPr>
          <a:xfrm>
            <a:off x="8275319" y="29260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5 – 23 oct 2026 (por confirmar)</a:t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8275319" y="329184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D97A44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/>
          </a:p>
        </p:txBody>
      </p:sp>
      <p:sp>
        <p:nvSpPr>
          <p:cNvPr id="552" name="Google Shape;552;p15"/>
          <p:cNvSpPr txBox="1"/>
          <p:nvPr/>
        </p:nvSpPr>
        <p:spPr>
          <a:xfrm>
            <a:off x="8275319" y="3749039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7 / 65 pts en Hecho</a:t>
            </a:r>
            <a:endParaRPr/>
          </a:p>
        </p:txBody>
      </p:sp>
      <p:sp>
        <p:nvSpPr>
          <p:cNvPr id="553" name="Google Shape;553;p15"/>
          <p:cNvSpPr txBox="1"/>
          <p:nvPr/>
        </p:nvSpPr>
        <p:spPr>
          <a:xfrm>
            <a:off x="8275319" y="434340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Al 13 oct: 2 en Hecho, 2 en revisión, 6 por validar</a:t>
            </a:r>
            <a:endParaRPr/>
          </a:p>
        </p:txBody>
      </p:sp>
      <p:sp>
        <p:nvSpPr>
          <p:cNvPr id="554" name="Google Shape;554;p15"/>
          <p:cNvSpPr txBox="1"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Las diapositivas 10.1 a 10.5 muestran, por sprint: </a:t>
            </a:r>
            <a:r>
              <a:rPr lang="en-US" sz="13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Backlog, Kanban Board, Impediment Log, Burndown Chart y Acta de Sprint Review.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El Sprint 2 sigue abierto: sus cifras son el corte del 13 de octubre y se actualizan en la Sprint Review.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6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10.1 · SPRINT BACKLOG</a:t>
            </a:r>
            <a:endParaRPr/>
          </a:p>
        </p:txBody>
      </p:sp>
      <p:sp>
        <p:nvSpPr>
          <p:cNvPr id="560" name="Google Shape;560;p16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Sprint Backlog: lo comprometido y su estado</a:t>
            </a:r>
            <a:endParaRPr/>
          </a:p>
        </p:txBody>
      </p:sp>
      <p:sp>
        <p:nvSpPr>
          <p:cNvPr id="561" name="Google Shape;561;p16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562" name="Google Shape;562;p16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63" name="Google Shape;563;p16"/>
          <p:cNvSpPr txBox="1"/>
          <p:nvPr/>
        </p:nvSpPr>
        <p:spPr>
          <a:xfrm>
            <a:off x="640080" y="16916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SPRINT 0 · 3 de 3 pts (100%)</a:t>
            </a:r>
            <a:endParaRPr/>
          </a:p>
        </p:txBody>
      </p:sp>
      <p:graphicFrame>
        <p:nvGraphicFramePr>
          <p:cNvPr id="564" name="Google Shape;564;p16"/>
          <p:cNvGraphicFramePr/>
          <p:nvPr/>
        </p:nvGraphicFramePr>
        <p:xfrm>
          <a:off x="640080" y="201168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{E2C85FDD-75F0-4AC7-BE80-1752B7F6AF84}</a:tableStyleId>
              </a:tblPr>
              <a:tblGrid>
                <a:gridCol w="82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Pts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PC-TEC-01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Repositorio y entorno base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5" name="Google Shape;565;p16"/>
          <p:cNvSpPr txBox="1"/>
          <p:nvPr/>
        </p:nvSpPr>
        <p:spPr>
          <a:xfrm>
            <a:off x="4023360" y="16916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SPRINT 1 · 60 de 65 pts (92%)</a:t>
            </a:r>
            <a:endParaRPr/>
          </a:p>
        </p:txBody>
      </p:sp>
      <p:graphicFrame>
        <p:nvGraphicFramePr>
          <p:cNvPr id="566" name="Google Shape;566;p16"/>
          <p:cNvGraphicFramePr/>
          <p:nvPr/>
        </p:nvGraphicFramePr>
        <p:xfrm>
          <a:off x="4023360" y="201168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{E2C85FDD-75F0-4AC7-BE80-1752B7F6AF84}</a:tableStyleId>
              </a:tblPr>
              <a:tblGrid>
                <a:gridCol w="26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(PC-…)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Pts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AUT-01 Inicio y cierre de sesión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AUT-02 2FA administradoras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AUT-03 Usuarios y roles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AUT-06 Log de auditoría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CAT-01 Catálogo de planes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CAT-02 Catálogo de servicios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WEB-01 Sitio con planes y servicios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WEB-02 CMS del sitio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WEB-03 Sitio responsivo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SEO-01 SEO técnico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SEO-02 Analítica con consentimiento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CAP-01 Formulario de captación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TEC-02 Integración continua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67" name="Google Shape;567;p16"/>
          <p:cNvSpPr txBox="1"/>
          <p:nvPr/>
        </p:nvSpPr>
        <p:spPr>
          <a:xfrm>
            <a:off x="4023360" y="59436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Trasladadas a S2: AUT-04, AUT-05, TEC-04 (24 pts). TEC-03 (5 pts) fuera de alcance.</a:t>
            </a:r>
            <a:endParaRPr/>
          </a:p>
        </p:txBody>
      </p:sp>
      <p:sp>
        <p:nvSpPr>
          <p:cNvPr id="568" name="Google Shape;568;p16"/>
          <p:cNvSpPr txBox="1"/>
          <p:nvPr/>
        </p:nvSpPr>
        <p:spPr>
          <a:xfrm>
            <a:off x="8138160" y="16916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SPRINT 2 · 7 de 65 pts (corte 13 oct)</a:t>
            </a:r>
            <a:endParaRPr/>
          </a:p>
        </p:txBody>
      </p:sp>
      <p:graphicFrame>
        <p:nvGraphicFramePr>
          <p:cNvPr id="569" name="Google Shape;569;p16"/>
          <p:cNvGraphicFramePr/>
          <p:nvPr/>
        </p:nvGraphicFramePr>
        <p:xfrm>
          <a:off x="8138160" y="201168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{E2C85FDD-75F0-4AC7-BE80-1752B7F6AF84}</a:tableStyleId>
              </a:tblPr>
              <a:tblGrid>
                <a:gridCol w="21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(PC-…)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Pts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PRO-01 Prospectos lista y kanban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PRO-02 Registro de prospecto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CLI-01 Conversión a cliente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revisión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AUT-04 Colaboradora ve sus clientes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revisión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COT-01 Cotizador en línea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 hacer*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COT-02 Revisión de cotización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 hacer*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CLI-02 Ficha del cliente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 hacer*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AUT-05 Cliente ve su empresa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 hacer*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TEC-04 Pruebas de aislamiento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 hacer*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IA-01 Diagnóstico de cotización con IA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 hacer*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70" name="Google Shape;570;p16"/>
          <p:cNvSpPr txBox="1"/>
          <p:nvPr/>
        </p:nvSpPr>
        <p:spPr>
          <a:xfrm>
            <a:off x="8138160" y="5600000"/>
            <a:ext cx="338328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* Estado en Trello. Estas historias ya tienen avance construido con pruebas automáticas en verde, pero se mueven de columna solo al validarlas contra sus criterios de aceptación.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7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10.2 · KANBAN BOARD</a:t>
            </a:r>
            <a:endParaRPr/>
          </a:p>
        </p:txBody>
      </p:sp>
      <p:sp>
        <p:nvSpPr>
          <p:cNvPr id="576" name="Google Shape;576;p17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Kanban Board: tarjetas por columna al cierre / corte</a:t>
            </a:r>
            <a:endParaRPr/>
          </a:p>
        </p:txBody>
      </p:sp>
      <p:sp>
        <p:nvSpPr>
          <p:cNvPr id="577" name="Google Shape;577;p17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578" name="Google Shape;578;p17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579" name="Google Shape;579;p17"/>
          <p:cNvSpPr txBox="1"/>
          <p:nvPr/>
        </p:nvSpPr>
        <p:spPr>
          <a:xfrm>
            <a:off x="640080" y="169164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Conteo de tarjetas por columna. S0 y S1 según sus planillas; S2 según el Kanban Board al 13 de octubre.</a:t>
            </a:r>
            <a:endParaRPr/>
          </a:p>
        </p:txBody>
      </p:sp>
      <p:sp>
        <p:nvSpPr>
          <p:cNvPr id="580" name="Google Shape;580;p17"/>
          <p:cNvSpPr txBox="1"/>
          <p:nvPr/>
        </p:nvSpPr>
        <p:spPr>
          <a:xfrm>
            <a:off x="640080" y="2103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Sprint 0</a:t>
            </a:r>
            <a:endParaRPr/>
          </a:p>
        </p:txBody>
      </p:sp>
      <p:sp>
        <p:nvSpPr>
          <p:cNvPr id="581" name="Google Shape;581;p17"/>
          <p:cNvSpPr txBox="1"/>
          <p:nvPr/>
        </p:nvSpPr>
        <p:spPr>
          <a:xfrm>
            <a:off x="640080" y="25603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10 ago – 4 sep</a:t>
            </a:r>
            <a:endParaRPr/>
          </a:p>
        </p:txBody>
      </p:sp>
      <p:sp>
        <p:nvSpPr>
          <p:cNvPr id="582" name="Google Shape;582;p17"/>
          <p:cNvSpPr/>
          <p:nvPr/>
        </p:nvSpPr>
        <p:spPr>
          <a:xfrm>
            <a:off x="2926080" y="21031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2926080" y="2103120"/>
            <a:ext cx="2011680" cy="64008"/>
          </a:xfrm>
          <a:prstGeom prst="rect">
            <a:avLst/>
          </a:prstGeom>
          <a:solidFill>
            <a:srgbClr val="8B8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 txBox="1"/>
          <p:nvPr/>
        </p:nvSpPr>
        <p:spPr>
          <a:xfrm>
            <a:off x="3063240" y="2240279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POR HACER</a:t>
            </a:r>
            <a:endParaRPr/>
          </a:p>
        </p:txBody>
      </p:sp>
      <p:sp>
        <p:nvSpPr>
          <p:cNvPr id="585" name="Google Shape;585;p17"/>
          <p:cNvSpPr txBox="1"/>
          <p:nvPr/>
        </p:nvSpPr>
        <p:spPr>
          <a:xfrm>
            <a:off x="3063240" y="25603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586" name="Google Shape;586;p17"/>
          <p:cNvSpPr/>
          <p:nvPr/>
        </p:nvSpPr>
        <p:spPr>
          <a:xfrm>
            <a:off x="5074920" y="21031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5074920" y="2103120"/>
            <a:ext cx="2011680" cy="640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7"/>
          <p:cNvSpPr txBox="1"/>
          <p:nvPr/>
        </p:nvSpPr>
        <p:spPr>
          <a:xfrm>
            <a:off x="5212080" y="2240279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/>
          </a:p>
        </p:txBody>
      </p:sp>
      <p:sp>
        <p:nvSpPr>
          <p:cNvPr id="589" name="Google Shape;589;p17"/>
          <p:cNvSpPr txBox="1"/>
          <p:nvPr/>
        </p:nvSpPr>
        <p:spPr>
          <a:xfrm>
            <a:off x="5212080" y="25603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590" name="Google Shape;590;p17"/>
          <p:cNvSpPr/>
          <p:nvPr/>
        </p:nvSpPr>
        <p:spPr>
          <a:xfrm>
            <a:off x="7223760" y="21031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7"/>
          <p:cNvSpPr/>
          <p:nvPr/>
        </p:nvSpPr>
        <p:spPr>
          <a:xfrm>
            <a:off x="7223760" y="2103120"/>
            <a:ext cx="2011680" cy="64008"/>
          </a:xfrm>
          <a:prstGeom prst="rect">
            <a:avLst/>
          </a:prstGeom>
          <a:solidFill>
            <a:srgbClr val="3B6F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 txBox="1"/>
          <p:nvPr/>
        </p:nvSpPr>
        <p:spPr>
          <a:xfrm>
            <a:off x="7360920" y="2240279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3B6FB6"/>
                </a:solidFill>
                <a:latin typeface="Calibri"/>
                <a:ea typeface="Calibri"/>
                <a:cs typeface="Calibri"/>
                <a:sym typeface="Calibri"/>
              </a:rPr>
              <a:t>EN REVISIÓN</a:t>
            </a:r>
            <a:endParaRPr/>
          </a:p>
        </p:txBody>
      </p:sp>
      <p:sp>
        <p:nvSpPr>
          <p:cNvPr id="593" name="Google Shape;593;p17"/>
          <p:cNvSpPr txBox="1"/>
          <p:nvPr/>
        </p:nvSpPr>
        <p:spPr>
          <a:xfrm>
            <a:off x="7360920" y="25603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9372600" y="21031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7"/>
          <p:cNvSpPr/>
          <p:nvPr/>
        </p:nvSpPr>
        <p:spPr>
          <a:xfrm>
            <a:off x="9372600" y="2103120"/>
            <a:ext cx="2011680" cy="64008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7"/>
          <p:cNvSpPr txBox="1"/>
          <p:nvPr/>
        </p:nvSpPr>
        <p:spPr>
          <a:xfrm>
            <a:off x="9509760" y="2240279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HECHO</a:t>
            </a:r>
            <a:endParaRPr/>
          </a:p>
        </p:txBody>
      </p:sp>
      <p:sp>
        <p:nvSpPr>
          <p:cNvPr id="597" name="Google Shape;597;p17"/>
          <p:cNvSpPr txBox="1"/>
          <p:nvPr/>
        </p:nvSpPr>
        <p:spPr>
          <a:xfrm>
            <a:off x="9509760" y="25603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598" name="Google Shape;598;p17"/>
          <p:cNvSpPr txBox="1"/>
          <p:nvPr/>
        </p:nvSpPr>
        <p:spPr>
          <a:xfrm>
            <a:off x="640080" y="34747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Sprint 1</a:t>
            </a:r>
            <a:endParaRPr/>
          </a:p>
        </p:txBody>
      </p:sp>
      <p:sp>
        <p:nvSpPr>
          <p:cNvPr id="599" name="Google Shape;599;p17"/>
          <p:cNvSpPr txBox="1"/>
          <p:nvPr/>
        </p:nvSpPr>
        <p:spPr>
          <a:xfrm>
            <a:off x="640080" y="39319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7 sep – 2 oct · cierre, corte 5 oct</a:t>
            </a:r>
            <a:endParaRPr/>
          </a:p>
        </p:txBody>
      </p:sp>
      <p:sp>
        <p:nvSpPr>
          <p:cNvPr id="600" name="Google Shape;600;p17"/>
          <p:cNvSpPr/>
          <p:nvPr/>
        </p:nvSpPr>
        <p:spPr>
          <a:xfrm>
            <a:off x="2926080" y="34747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2926080" y="3474720"/>
            <a:ext cx="2011680" cy="64008"/>
          </a:xfrm>
          <a:prstGeom prst="rect">
            <a:avLst/>
          </a:prstGeom>
          <a:solidFill>
            <a:srgbClr val="8B8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 txBox="1"/>
          <p:nvPr/>
        </p:nvSpPr>
        <p:spPr>
          <a:xfrm>
            <a:off x="3063240" y="3611879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POR HACER</a:t>
            </a:r>
            <a:endParaRPr/>
          </a:p>
        </p:txBody>
      </p:sp>
      <p:sp>
        <p:nvSpPr>
          <p:cNvPr id="603" name="Google Shape;603;p17"/>
          <p:cNvSpPr txBox="1"/>
          <p:nvPr/>
        </p:nvSpPr>
        <p:spPr>
          <a:xfrm>
            <a:off x="3063240" y="3931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5074920" y="34747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5074920" y="3474720"/>
            <a:ext cx="2011680" cy="640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7"/>
          <p:cNvSpPr txBox="1"/>
          <p:nvPr/>
        </p:nvSpPr>
        <p:spPr>
          <a:xfrm>
            <a:off x="5212080" y="3611879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/>
          </a:p>
        </p:txBody>
      </p:sp>
      <p:sp>
        <p:nvSpPr>
          <p:cNvPr id="607" name="Google Shape;607;p17"/>
          <p:cNvSpPr txBox="1"/>
          <p:nvPr/>
        </p:nvSpPr>
        <p:spPr>
          <a:xfrm>
            <a:off x="5212080" y="3931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608" name="Google Shape;608;p17"/>
          <p:cNvSpPr/>
          <p:nvPr/>
        </p:nvSpPr>
        <p:spPr>
          <a:xfrm>
            <a:off x="7223760" y="34747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7223760" y="3474720"/>
            <a:ext cx="2011680" cy="64008"/>
          </a:xfrm>
          <a:prstGeom prst="rect">
            <a:avLst/>
          </a:prstGeom>
          <a:solidFill>
            <a:srgbClr val="3B6F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 txBox="1"/>
          <p:nvPr/>
        </p:nvSpPr>
        <p:spPr>
          <a:xfrm>
            <a:off x="7360920" y="3611879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3B6FB6"/>
                </a:solidFill>
                <a:latin typeface="Calibri"/>
                <a:ea typeface="Calibri"/>
                <a:cs typeface="Calibri"/>
                <a:sym typeface="Calibri"/>
              </a:rPr>
              <a:t>EN REVISIÓN</a:t>
            </a:r>
            <a:endParaRPr/>
          </a:p>
        </p:txBody>
      </p:sp>
      <p:sp>
        <p:nvSpPr>
          <p:cNvPr id="611" name="Google Shape;611;p17"/>
          <p:cNvSpPr txBox="1"/>
          <p:nvPr/>
        </p:nvSpPr>
        <p:spPr>
          <a:xfrm>
            <a:off x="7360920" y="3931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612" name="Google Shape;612;p17"/>
          <p:cNvSpPr/>
          <p:nvPr/>
        </p:nvSpPr>
        <p:spPr>
          <a:xfrm>
            <a:off x="9372600" y="34747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9372600" y="3474720"/>
            <a:ext cx="2011680" cy="64008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7"/>
          <p:cNvSpPr txBox="1"/>
          <p:nvPr/>
        </p:nvSpPr>
        <p:spPr>
          <a:xfrm>
            <a:off x="9509760" y="3611879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HECHO</a:t>
            </a:r>
            <a:endParaRPr/>
          </a:p>
        </p:txBody>
      </p:sp>
      <p:sp>
        <p:nvSpPr>
          <p:cNvPr id="615" name="Google Shape;615;p17"/>
          <p:cNvSpPr txBox="1"/>
          <p:nvPr/>
        </p:nvSpPr>
        <p:spPr>
          <a:xfrm>
            <a:off x="9509760" y="3931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endParaRPr/>
          </a:p>
        </p:txBody>
      </p:sp>
      <p:sp>
        <p:nvSpPr>
          <p:cNvPr id="616" name="Google Shape;616;p17"/>
          <p:cNvSpPr txBox="1"/>
          <p:nvPr/>
        </p:nvSpPr>
        <p:spPr>
          <a:xfrm>
            <a:off x="640080" y="48463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Sprint 2</a:t>
            </a:r>
            <a:endParaRPr/>
          </a:p>
        </p:txBody>
      </p:sp>
      <p:sp>
        <p:nvSpPr>
          <p:cNvPr id="617" name="Google Shape;617;p17"/>
          <p:cNvSpPr txBox="1"/>
          <p:nvPr/>
        </p:nvSpPr>
        <p:spPr>
          <a:xfrm>
            <a:off x="640080" y="5303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13 oct · Kanban Board</a:t>
            </a:r>
            <a:endParaRPr/>
          </a:p>
        </p:txBody>
      </p:sp>
      <p:sp>
        <p:nvSpPr>
          <p:cNvPr id="618" name="Google Shape;618;p17"/>
          <p:cNvSpPr/>
          <p:nvPr/>
        </p:nvSpPr>
        <p:spPr>
          <a:xfrm>
            <a:off x="2926080" y="48463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7"/>
          <p:cNvSpPr/>
          <p:nvPr/>
        </p:nvSpPr>
        <p:spPr>
          <a:xfrm>
            <a:off x="2926080" y="4846320"/>
            <a:ext cx="2011680" cy="64008"/>
          </a:xfrm>
          <a:prstGeom prst="rect">
            <a:avLst/>
          </a:prstGeom>
          <a:solidFill>
            <a:srgbClr val="8B8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7"/>
          <p:cNvSpPr txBox="1"/>
          <p:nvPr/>
        </p:nvSpPr>
        <p:spPr>
          <a:xfrm>
            <a:off x="3063240" y="49834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POR HACER</a:t>
            </a:r>
            <a:endParaRPr/>
          </a:p>
        </p:txBody>
      </p:sp>
      <p:sp>
        <p:nvSpPr>
          <p:cNvPr id="621" name="Google Shape;621;p17"/>
          <p:cNvSpPr txBox="1"/>
          <p:nvPr/>
        </p:nvSpPr>
        <p:spPr>
          <a:xfrm>
            <a:off x="3063240" y="53035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/>
          </a:p>
        </p:txBody>
      </p:sp>
      <p:sp>
        <p:nvSpPr>
          <p:cNvPr id="622" name="Google Shape;622;p17"/>
          <p:cNvSpPr/>
          <p:nvPr/>
        </p:nvSpPr>
        <p:spPr>
          <a:xfrm>
            <a:off x="5074920" y="48463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5074920" y="4846320"/>
            <a:ext cx="2011680" cy="640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7"/>
          <p:cNvSpPr txBox="1"/>
          <p:nvPr/>
        </p:nvSpPr>
        <p:spPr>
          <a:xfrm>
            <a:off x="5212080" y="49834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/>
          </a:p>
        </p:txBody>
      </p:sp>
      <p:sp>
        <p:nvSpPr>
          <p:cNvPr id="625" name="Google Shape;625;p17"/>
          <p:cNvSpPr txBox="1"/>
          <p:nvPr/>
        </p:nvSpPr>
        <p:spPr>
          <a:xfrm>
            <a:off x="5212080" y="53035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626" name="Google Shape;626;p17"/>
          <p:cNvSpPr/>
          <p:nvPr/>
        </p:nvSpPr>
        <p:spPr>
          <a:xfrm>
            <a:off x="7223760" y="48463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7223760" y="4846320"/>
            <a:ext cx="2011680" cy="64008"/>
          </a:xfrm>
          <a:prstGeom prst="rect">
            <a:avLst/>
          </a:prstGeom>
          <a:solidFill>
            <a:srgbClr val="3B6F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 txBox="1"/>
          <p:nvPr/>
        </p:nvSpPr>
        <p:spPr>
          <a:xfrm>
            <a:off x="7360920" y="49834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3B6FB6"/>
                </a:solidFill>
                <a:latin typeface="Calibri"/>
                <a:ea typeface="Calibri"/>
                <a:cs typeface="Calibri"/>
                <a:sym typeface="Calibri"/>
              </a:rPr>
              <a:t>EN REVISIÓN</a:t>
            </a:r>
            <a:endParaRPr/>
          </a:p>
        </p:txBody>
      </p:sp>
      <p:sp>
        <p:nvSpPr>
          <p:cNvPr id="629" name="Google Shape;629;p17"/>
          <p:cNvSpPr txBox="1"/>
          <p:nvPr/>
        </p:nvSpPr>
        <p:spPr>
          <a:xfrm>
            <a:off x="7360920" y="53035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9372600" y="4846320"/>
            <a:ext cx="2011680" cy="1188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9372600" y="4846320"/>
            <a:ext cx="2011680" cy="64008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7"/>
          <p:cNvSpPr txBox="1"/>
          <p:nvPr/>
        </p:nvSpPr>
        <p:spPr>
          <a:xfrm>
            <a:off x="9509760" y="49834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HECHO</a:t>
            </a:r>
            <a:endParaRPr/>
          </a:p>
        </p:txBody>
      </p:sp>
      <p:sp>
        <p:nvSpPr>
          <p:cNvPr id="633" name="Google Shape;633;p17"/>
          <p:cNvSpPr txBox="1"/>
          <p:nvPr/>
        </p:nvSpPr>
        <p:spPr>
          <a:xfrm>
            <a:off x="9509760" y="53035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634" name="Google Shape;634;p17"/>
          <p:cNvSpPr txBox="1"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Las capturas del tablero de Trello de cada corte se guardan como evidencia junto a la planilla.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8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10.3 · IMPEDIMENT LOG</a:t>
            </a:r>
            <a:endParaRPr/>
          </a:p>
        </p:txBody>
      </p:sp>
      <p:sp>
        <p:nvSpPr>
          <p:cNvPr id="640" name="Google Shape;640;p18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Impediment Log: qué nos frenó y cómo se resolvió</a:t>
            </a:r>
            <a:endParaRPr/>
          </a:p>
        </p:txBody>
      </p:sp>
      <p:sp>
        <p:nvSpPr>
          <p:cNvPr id="641" name="Google Shape;641;p18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642" name="Google Shape;642;p18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graphicFrame>
        <p:nvGraphicFramePr>
          <p:cNvPr id="643" name="Google Shape;643;p18"/>
          <p:cNvGraphicFramePr/>
          <p:nvPr/>
        </p:nvGraphicFramePr>
        <p:xfrm>
          <a:off x="640080" y="18288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{E2C85FDD-75F0-4AC7-BE80-1752B7F6AF84}</a:tableStyleId>
              </a:tblPr>
              <a:tblGrid>
                <a:gridCol w="57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Impedimento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Reportado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Resolución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8E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I-001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Atraso en documentación de sprint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sep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Resuelto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Generación concurrente de documentos durante el sprint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S0 → S1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I-002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 escapa de reuniones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sep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monitoreo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Protocolo de confirmación con 72 h de anticipación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S0 → S2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I-003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Feedback ambiguo del cliente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 sep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Resuelto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Formulario de validación específica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S0 → S1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I-004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Cambios de alcance sin control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sep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monitoreo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Congelamiento formal de requerimientos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S0 → S2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I-005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Atraso de interfaz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sep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Resuelto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Faltaba la paleta de colores de los clientes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S0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I-006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 de login: email guardado con mayúscula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 sep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Resuelto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normalizó el dato y se corrigió el guardado del modelo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241F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</a:t>
                      </a:r>
                      <a:endParaRPr/>
                    </a:p>
                  </a:txBody>
                  <a:tcPr marL="64000" marR="64000" marT="22850" marB="228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44" name="Google Shape;644;p18"/>
          <p:cNvSpPr txBox="1"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Sprint 2: arrastra I-002 e I-004 (en monitoreo); aún sin impedimentos nuevos registrados al 11 de octubre.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I-001 e I-003: la fecha real de cierre está por confirmar.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9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10.4 · BURNDOWN CHART</a:t>
            </a:r>
            <a:endParaRPr/>
          </a:p>
        </p:txBody>
      </p:sp>
      <p:sp>
        <p:nvSpPr>
          <p:cNvPr id="650" name="Google Shape;650;p19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Burndown Chart: puntos restantes por sprint</a:t>
            </a:r>
            <a:endParaRPr/>
          </a:p>
        </p:txBody>
      </p:sp>
      <p:sp>
        <p:nvSpPr>
          <p:cNvPr id="651" name="Google Shape;651;p19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652" name="Google Shape;652;p19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graphicFrame>
        <p:nvGraphicFramePr>
          <p:cNvPr id="653" name="Google Shape;653;p19"/>
          <p:cNvGraphicFramePr/>
          <p:nvPr/>
        </p:nvGraphicFramePr>
        <p:xfrm>
          <a:off x="548640" y="1691640"/>
          <a:ext cx="3749039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4" name="Google Shape;654;p19"/>
          <p:cNvGraphicFramePr/>
          <p:nvPr/>
        </p:nvGraphicFramePr>
        <p:xfrm>
          <a:off x="4343400" y="1691640"/>
          <a:ext cx="3749039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55" name="Google Shape;655;p19"/>
          <p:cNvGraphicFramePr/>
          <p:nvPr/>
        </p:nvGraphicFramePr>
        <p:xfrm>
          <a:off x="8138160" y="1691640"/>
          <a:ext cx="3657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56" name="Google Shape;656;p19"/>
          <p:cNvSpPr txBox="1"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Eje horizontal: día hábil del sprint. S0 terminó el día 15 (28 ago), 5 días antes del cierre. S1 cerró con 60 de 65 pts (los 5 restantes son PC-TEC-03, fuera de alcance). S2: día 6 (13 oct), 58 pts restantes de 65: se sumó PC-IA-01 (8 pts) y no se han quemado puntos desde el día 1.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Burndown S1 reconstruido el 5 oct con las fechas de término del Sprint Backlog (26 y 27 sep, fin de semana, se acumulan el 28 sep).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0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10.5 · ACTA DE SPRINT REVIEW</a:t>
            </a:r>
            <a:endParaRPr/>
          </a:p>
        </p:txBody>
      </p:sp>
      <p:sp>
        <p:nvSpPr>
          <p:cNvPr id="662" name="Google Shape;662;p20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Acta de Sprint Review por sprint</a:t>
            </a:r>
            <a:endParaRPr/>
          </a:p>
        </p:txBody>
      </p:sp>
      <p:sp>
        <p:nvSpPr>
          <p:cNvPr id="663" name="Google Shape;663;p20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664" name="Google Shape;664;p20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665" name="Google Shape;665;p20"/>
          <p:cNvSpPr/>
          <p:nvPr/>
        </p:nvSpPr>
        <p:spPr>
          <a:xfrm>
            <a:off x="640080" y="1828800"/>
            <a:ext cx="3474720" cy="384048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0"/>
          <p:cNvSpPr txBox="1"/>
          <p:nvPr/>
        </p:nvSpPr>
        <p:spPr>
          <a:xfrm>
            <a:off x="868680" y="20116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Sprint 0</a:t>
            </a:r>
            <a:endParaRPr/>
          </a:p>
        </p:txBody>
      </p:sp>
      <p:sp>
        <p:nvSpPr>
          <p:cNvPr id="667" name="Google Shape;667;p20"/>
          <p:cNvSpPr txBox="1"/>
          <p:nvPr/>
        </p:nvSpPr>
        <p:spPr>
          <a:xfrm>
            <a:off x="868680" y="2606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Viernes 4 sep 2026</a:t>
            </a:r>
            <a:endParaRPr/>
          </a:p>
        </p:txBody>
      </p:sp>
      <p:sp>
        <p:nvSpPr>
          <p:cNvPr id="668" name="Google Shape;668;p20"/>
          <p:cNvSpPr txBox="1"/>
          <p:nvPr/>
        </p:nvSpPr>
        <p:spPr>
          <a:xfrm>
            <a:off x="868680" y="29260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Revisión interna del equipo</a:t>
            </a:r>
            <a:endParaRPr/>
          </a:p>
        </p:txBody>
      </p:sp>
      <p:sp>
        <p:nvSpPr>
          <p:cNvPr id="669" name="Google Shape;669;p20"/>
          <p:cNvSpPr txBox="1"/>
          <p:nvPr/>
        </p:nvSpPr>
        <p:spPr>
          <a:xfrm>
            <a:off x="868680" y="342900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La agencia no participó. Validación pendiente en acta complementaria.</a:t>
            </a:r>
            <a:endParaRPr/>
          </a:p>
        </p:txBody>
      </p:sp>
      <p:sp>
        <p:nvSpPr>
          <p:cNvPr id="670" name="Google Shape;670;p20"/>
          <p:cNvSpPr/>
          <p:nvPr/>
        </p:nvSpPr>
        <p:spPr>
          <a:xfrm>
            <a:off x="868680" y="5074920"/>
            <a:ext cx="3017520" cy="237744"/>
          </a:xfrm>
          <a:prstGeom prst="roundRect">
            <a:avLst>
              <a:gd name="adj" fmla="val 50000"/>
            </a:avLst>
          </a:prstGeom>
          <a:solidFill>
            <a:srgbClr val="D97A44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Firma en blanco · PO por confirmar</a:t>
            </a:r>
            <a:endParaRPr/>
          </a:p>
        </p:txBody>
      </p:sp>
      <p:sp>
        <p:nvSpPr>
          <p:cNvPr id="671" name="Google Shape;671;p20"/>
          <p:cNvSpPr/>
          <p:nvPr/>
        </p:nvSpPr>
        <p:spPr>
          <a:xfrm>
            <a:off x="4343400" y="1828800"/>
            <a:ext cx="3474720" cy="384048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0"/>
          <p:cNvSpPr txBox="1"/>
          <p:nvPr/>
        </p:nvSpPr>
        <p:spPr>
          <a:xfrm>
            <a:off x="4572000" y="20116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Sprint 1</a:t>
            </a:r>
            <a:endParaRPr/>
          </a:p>
        </p:txBody>
      </p:sp>
      <p:sp>
        <p:nvSpPr>
          <p:cNvPr id="673" name="Google Shape;673;p20"/>
          <p:cNvSpPr txBox="1"/>
          <p:nvPr/>
        </p:nvSpPr>
        <p:spPr>
          <a:xfrm>
            <a:off x="4572000" y="2606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Sábado 27 sep 2026</a:t>
            </a:r>
            <a:endParaRPr/>
          </a:p>
        </p:txBody>
      </p:sp>
      <p:sp>
        <p:nvSpPr>
          <p:cNvPr id="674" name="Google Shape;674;p20"/>
          <p:cNvSpPr txBox="1"/>
          <p:nvPr/>
        </p:nvSpPr>
        <p:spPr>
          <a:xfrm>
            <a:off x="4572000" y="29260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Videollamada con la agencia</a:t>
            </a:r>
            <a:endParaRPr/>
          </a:p>
        </p:txBody>
      </p:sp>
      <p:sp>
        <p:nvSpPr>
          <p:cNvPr id="675" name="Google Shape;675;p20"/>
          <p:cNvSpPr txBox="1"/>
          <p:nvPr/>
        </p:nvSpPr>
        <p:spPr>
          <a:xfrm>
            <a:off x="4572000" y="342900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Participaron Pía Mercado y Valentina Frías: sitio muy completo; piden más CTAs, logo y asesoría gratuita.</a:t>
            </a:r>
            <a:endParaRPr/>
          </a:p>
        </p:txBody>
      </p:sp>
      <p:sp>
        <p:nvSpPr>
          <p:cNvPr id="676" name="Google Shape;676;p20"/>
          <p:cNvSpPr/>
          <p:nvPr/>
        </p:nvSpPr>
        <p:spPr>
          <a:xfrm>
            <a:off x="4572000" y="5074920"/>
            <a:ext cx="3017520" cy="237744"/>
          </a:xfrm>
          <a:prstGeom prst="roundRect">
            <a:avLst>
              <a:gd name="adj" fmla="val 50000"/>
            </a:avLst>
          </a:prstGeom>
          <a:solidFill>
            <a:srgbClr val="D97A44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Firma en blanco · PO por confirmar</a:t>
            </a:r>
            <a:endParaRPr/>
          </a:p>
        </p:txBody>
      </p:sp>
      <p:sp>
        <p:nvSpPr>
          <p:cNvPr id="677" name="Google Shape;677;p20"/>
          <p:cNvSpPr/>
          <p:nvPr/>
        </p:nvSpPr>
        <p:spPr>
          <a:xfrm>
            <a:off x="8046719" y="1828800"/>
            <a:ext cx="3474720" cy="384048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0"/>
          <p:cNvSpPr txBox="1"/>
          <p:nvPr/>
        </p:nvSpPr>
        <p:spPr>
          <a:xfrm>
            <a:off x="8275319" y="20116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Sprint 2</a:t>
            </a:r>
            <a:endParaRPr/>
          </a:p>
        </p:txBody>
      </p:sp>
      <p:sp>
        <p:nvSpPr>
          <p:cNvPr id="679" name="Google Shape;679;p20"/>
          <p:cNvSpPr txBox="1"/>
          <p:nvPr/>
        </p:nvSpPr>
        <p:spPr>
          <a:xfrm>
            <a:off x="8275319" y="2606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Cierre previsto 23 oct 2026</a:t>
            </a:r>
            <a:endParaRPr/>
          </a:p>
        </p:txBody>
      </p:sp>
      <p:sp>
        <p:nvSpPr>
          <p:cNvPr id="680" name="Google Shape;680;p20"/>
          <p:cNvSpPr txBox="1"/>
          <p:nvPr/>
        </p:nvSpPr>
        <p:spPr>
          <a:xfrm>
            <a:off x="8275319" y="29260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Por agendar con la agencia</a:t>
            </a:r>
            <a:endParaRPr/>
          </a:p>
        </p:txBody>
      </p:sp>
      <p:sp>
        <p:nvSpPr>
          <p:cNvPr id="681" name="Google Shape;681;p20"/>
          <p:cNvSpPr txBox="1"/>
          <p:nvPr/>
        </p:nvSpPr>
        <p:spPr>
          <a:xfrm>
            <a:off x="8275319" y="342900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La Sprint Review aún no se realiza.</a:t>
            </a:r>
            <a:endParaRPr/>
          </a:p>
        </p:txBody>
      </p:sp>
      <p:sp>
        <p:nvSpPr>
          <p:cNvPr id="682" name="Google Shape;682;p20"/>
          <p:cNvSpPr/>
          <p:nvPr/>
        </p:nvSpPr>
        <p:spPr>
          <a:xfrm>
            <a:off x="8275319" y="5074920"/>
            <a:ext cx="3017520" cy="237744"/>
          </a:xfrm>
          <a:prstGeom prst="roundRect">
            <a:avLst>
              <a:gd name="adj" fmla="val 50000"/>
            </a:avLst>
          </a:prstGeom>
          <a:solidFill>
            <a:srgbClr val="D97A44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Firma pendiente</a:t>
            </a:r>
            <a:endParaRPr/>
          </a:p>
        </p:txBody>
      </p:sp>
      <p:sp>
        <p:nvSpPr>
          <p:cNvPr id="683" name="Google Shape;683;p20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Las actas S0 y S1 tienen espacio de firma, aún en blanco. El Acta S1 se corrigió el 5 oct (roles, adelantos del S2 e IA). Se anexa la copia firmada cuando se confirme quién firma por la agencia.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1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11 · CRONOGRAMA ACTUALIZADO</a:t>
            </a:r>
            <a:endParaRPr/>
          </a:p>
        </p:txBody>
      </p:sp>
      <p:sp>
        <p:nvSpPr>
          <p:cNvPr id="689" name="Google Shape;689;p21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Carta Gantt con el estado real al 13 de octubre</a:t>
            </a:r>
            <a:endParaRPr/>
          </a:p>
        </p:txBody>
      </p:sp>
      <p:sp>
        <p:nvSpPr>
          <p:cNvPr id="690" name="Google Shape;690;p21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691" name="Google Shape;691;p21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692" name="Google Shape;692;p21"/>
          <p:cNvSpPr/>
          <p:nvPr/>
        </p:nvSpPr>
        <p:spPr>
          <a:xfrm>
            <a:off x="3291840" y="1783080"/>
            <a:ext cx="433832" cy="274320"/>
          </a:xfrm>
          <a:prstGeom prst="rect">
            <a:avLst/>
          </a:prstGeom>
          <a:solidFill>
            <a:srgbClr val="8E2A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1"/>
          <p:cNvSpPr txBox="1"/>
          <p:nvPr/>
        </p:nvSpPr>
        <p:spPr>
          <a:xfrm>
            <a:off x="329184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/>
          </a:p>
        </p:txBody>
      </p:sp>
      <p:sp>
        <p:nvSpPr>
          <p:cNvPr id="694" name="Google Shape;694;p21"/>
          <p:cNvSpPr/>
          <p:nvPr/>
        </p:nvSpPr>
        <p:spPr>
          <a:xfrm>
            <a:off x="3743960" y="1783080"/>
            <a:ext cx="433832" cy="274320"/>
          </a:xfrm>
          <a:prstGeom prst="rect">
            <a:avLst/>
          </a:prstGeom>
          <a:solidFill>
            <a:srgbClr val="6F2A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 txBox="1"/>
          <p:nvPr/>
        </p:nvSpPr>
        <p:spPr>
          <a:xfrm>
            <a:off x="374396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/>
          </a:p>
        </p:txBody>
      </p:sp>
      <p:sp>
        <p:nvSpPr>
          <p:cNvPr id="696" name="Google Shape;696;p21"/>
          <p:cNvSpPr/>
          <p:nvPr/>
        </p:nvSpPr>
        <p:spPr>
          <a:xfrm>
            <a:off x="4196080" y="1783080"/>
            <a:ext cx="433832" cy="274320"/>
          </a:xfrm>
          <a:prstGeom prst="rect">
            <a:avLst/>
          </a:prstGeom>
          <a:solidFill>
            <a:srgbClr val="8E2A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 txBox="1"/>
          <p:nvPr/>
        </p:nvSpPr>
        <p:spPr>
          <a:xfrm>
            <a:off x="419608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/>
          </a:p>
        </p:txBody>
      </p:sp>
      <p:sp>
        <p:nvSpPr>
          <p:cNvPr id="698" name="Google Shape;698;p21"/>
          <p:cNvSpPr/>
          <p:nvPr/>
        </p:nvSpPr>
        <p:spPr>
          <a:xfrm>
            <a:off x="4648200" y="1783080"/>
            <a:ext cx="433832" cy="274320"/>
          </a:xfrm>
          <a:prstGeom prst="rect">
            <a:avLst/>
          </a:prstGeom>
          <a:solidFill>
            <a:srgbClr val="6F2A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1"/>
          <p:cNvSpPr txBox="1"/>
          <p:nvPr/>
        </p:nvSpPr>
        <p:spPr>
          <a:xfrm>
            <a:off x="464820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/>
          </a:p>
        </p:txBody>
      </p:sp>
      <p:sp>
        <p:nvSpPr>
          <p:cNvPr id="700" name="Google Shape;700;p21"/>
          <p:cNvSpPr/>
          <p:nvPr/>
        </p:nvSpPr>
        <p:spPr>
          <a:xfrm>
            <a:off x="5100320" y="1783080"/>
            <a:ext cx="433832" cy="274320"/>
          </a:xfrm>
          <a:prstGeom prst="rect">
            <a:avLst/>
          </a:prstGeom>
          <a:solidFill>
            <a:srgbClr val="8E2A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1"/>
          <p:cNvSpPr txBox="1"/>
          <p:nvPr/>
        </p:nvSpPr>
        <p:spPr>
          <a:xfrm>
            <a:off x="510032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/>
          </a:p>
        </p:txBody>
      </p:sp>
      <p:sp>
        <p:nvSpPr>
          <p:cNvPr id="702" name="Google Shape;702;p21"/>
          <p:cNvSpPr/>
          <p:nvPr/>
        </p:nvSpPr>
        <p:spPr>
          <a:xfrm>
            <a:off x="5552440" y="1783080"/>
            <a:ext cx="433832" cy="274320"/>
          </a:xfrm>
          <a:prstGeom prst="rect">
            <a:avLst/>
          </a:prstGeom>
          <a:solidFill>
            <a:srgbClr val="6F2A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 txBox="1"/>
          <p:nvPr/>
        </p:nvSpPr>
        <p:spPr>
          <a:xfrm>
            <a:off x="555244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/>
          </a:p>
        </p:txBody>
      </p:sp>
      <p:sp>
        <p:nvSpPr>
          <p:cNvPr id="704" name="Google Shape;704;p21"/>
          <p:cNvSpPr/>
          <p:nvPr/>
        </p:nvSpPr>
        <p:spPr>
          <a:xfrm>
            <a:off x="6004560" y="1783080"/>
            <a:ext cx="433832" cy="274320"/>
          </a:xfrm>
          <a:prstGeom prst="rect">
            <a:avLst/>
          </a:prstGeom>
          <a:solidFill>
            <a:srgbClr val="8E2A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1"/>
          <p:cNvSpPr txBox="1"/>
          <p:nvPr/>
        </p:nvSpPr>
        <p:spPr>
          <a:xfrm>
            <a:off x="600456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/>
          </a:p>
        </p:txBody>
      </p:sp>
      <p:sp>
        <p:nvSpPr>
          <p:cNvPr id="706" name="Google Shape;706;p21"/>
          <p:cNvSpPr/>
          <p:nvPr/>
        </p:nvSpPr>
        <p:spPr>
          <a:xfrm>
            <a:off x="6456680" y="1783080"/>
            <a:ext cx="433832" cy="274320"/>
          </a:xfrm>
          <a:prstGeom prst="rect">
            <a:avLst/>
          </a:prstGeom>
          <a:solidFill>
            <a:srgbClr val="6F2A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1"/>
          <p:cNvSpPr txBox="1"/>
          <p:nvPr/>
        </p:nvSpPr>
        <p:spPr>
          <a:xfrm>
            <a:off x="645668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/>
          </a:p>
        </p:txBody>
      </p:sp>
      <p:sp>
        <p:nvSpPr>
          <p:cNvPr id="708" name="Google Shape;708;p21"/>
          <p:cNvSpPr/>
          <p:nvPr/>
        </p:nvSpPr>
        <p:spPr>
          <a:xfrm>
            <a:off x="6908800" y="1783080"/>
            <a:ext cx="433832" cy="274320"/>
          </a:xfrm>
          <a:prstGeom prst="rect">
            <a:avLst/>
          </a:prstGeom>
          <a:solidFill>
            <a:srgbClr val="8E2A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1"/>
          <p:cNvSpPr txBox="1"/>
          <p:nvPr/>
        </p:nvSpPr>
        <p:spPr>
          <a:xfrm>
            <a:off x="690880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/>
          </a:p>
        </p:txBody>
      </p:sp>
      <p:sp>
        <p:nvSpPr>
          <p:cNvPr id="710" name="Google Shape;710;p21"/>
          <p:cNvSpPr/>
          <p:nvPr/>
        </p:nvSpPr>
        <p:spPr>
          <a:xfrm>
            <a:off x="7360920" y="1783080"/>
            <a:ext cx="433832" cy="274320"/>
          </a:xfrm>
          <a:prstGeom prst="rect">
            <a:avLst/>
          </a:prstGeom>
          <a:solidFill>
            <a:srgbClr val="6F2A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1"/>
          <p:cNvSpPr txBox="1"/>
          <p:nvPr/>
        </p:nvSpPr>
        <p:spPr>
          <a:xfrm>
            <a:off x="736092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S10</a:t>
            </a:r>
            <a:endParaRPr/>
          </a:p>
        </p:txBody>
      </p:sp>
      <p:sp>
        <p:nvSpPr>
          <p:cNvPr id="712" name="Google Shape;712;p21"/>
          <p:cNvSpPr/>
          <p:nvPr/>
        </p:nvSpPr>
        <p:spPr>
          <a:xfrm>
            <a:off x="7813040" y="1783080"/>
            <a:ext cx="433832" cy="274320"/>
          </a:xfrm>
          <a:prstGeom prst="rect">
            <a:avLst/>
          </a:prstGeom>
          <a:solidFill>
            <a:srgbClr val="8E2A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1"/>
          <p:cNvSpPr txBox="1"/>
          <p:nvPr/>
        </p:nvSpPr>
        <p:spPr>
          <a:xfrm>
            <a:off x="781304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S11</a:t>
            </a:r>
            <a:endParaRPr/>
          </a:p>
        </p:txBody>
      </p:sp>
      <p:sp>
        <p:nvSpPr>
          <p:cNvPr id="714" name="Google Shape;714;p21"/>
          <p:cNvSpPr/>
          <p:nvPr/>
        </p:nvSpPr>
        <p:spPr>
          <a:xfrm>
            <a:off x="8265160" y="1783080"/>
            <a:ext cx="433832" cy="274320"/>
          </a:xfrm>
          <a:prstGeom prst="rect">
            <a:avLst/>
          </a:prstGeom>
          <a:solidFill>
            <a:srgbClr val="6F2A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1"/>
          <p:cNvSpPr txBox="1"/>
          <p:nvPr/>
        </p:nvSpPr>
        <p:spPr>
          <a:xfrm>
            <a:off x="826516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S12</a:t>
            </a:r>
            <a:endParaRPr/>
          </a:p>
        </p:txBody>
      </p:sp>
      <p:sp>
        <p:nvSpPr>
          <p:cNvPr id="716" name="Google Shape;716;p21"/>
          <p:cNvSpPr/>
          <p:nvPr/>
        </p:nvSpPr>
        <p:spPr>
          <a:xfrm>
            <a:off x="8717280" y="1783080"/>
            <a:ext cx="433832" cy="274320"/>
          </a:xfrm>
          <a:prstGeom prst="rect">
            <a:avLst/>
          </a:prstGeom>
          <a:solidFill>
            <a:srgbClr val="8E2A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1"/>
          <p:cNvSpPr txBox="1"/>
          <p:nvPr/>
        </p:nvSpPr>
        <p:spPr>
          <a:xfrm>
            <a:off x="871728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S13</a:t>
            </a:r>
            <a:endParaRPr/>
          </a:p>
        </p:txBody>
      </p:sp>
      <p:sp>
        <p:nvSpPr>
          <p:cNvPr id="718" name="Google Shape;718;p21"/>
          <p:cNvSpPr/>
          <p:nvPr/>
        </p:nvSpPr>
        <p:spPr>
          <a:xfrm>
            <a:off x="9169400" y="1783080"/>
            <a:ext cx="433832" cy="274320"/>
          </a:xfrm>
          <a:prstGeom prst="rect">
            <a:avLst/>
          </a:prstGeom>
          <a:solidFill>
            <a:srgbClr val="6F2A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1"/>
          <p:cNvSpPr txBox="1"/>
          <p:nvPr/>
        </p:nvSpPr>
        <p:spPr>
          <a:xfrm>
            <a:off x="916940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S14</a:t>
            </a:r>
            <a:endParaRPr/>
          </a:p>
        </p:txBody>
      </p:sp>
      <p:sp>
        <p:nvSpPr>
          <p:cNvPr id="720" name="Google Shape;720;p21"/>
          <p:cNvSpPr/>
          <p:nvPr/>
        </p:nvSpPr>
        <p:spPr>
          <a:xfrm>
            <a:off x="9621520" y="1783080"/>
            <a:ext cx="433832" cy="274320"/>
          </a:xfrm>
          <a:prstGeom prst="rect">
            <a:avLst/>
          </a:prstGeom>
          <a:solidFill>
            <a:srgbClr val="8E2A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1"/>
          <p:cNvSpPr txBox="1"/>
          <p:nvPr/>
        </p:nvSpPr>
        <p:spPr>
          <a:xfrm>
            <a:off x="962152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S15</a:t>
            </a:r>
            <a:endParaRPr/>
          </a:p>
        </p:txBody>
      </p:sp>
      <p:sp>
        <p:nvSpPr>
          <p:cNvPr id="722" name="Google Shape;722;p21"/>
          <p:cNvSpPr/>
          <p:nvPr/>
        </p:nvSpPr>
        <p:spPr>
          <a:xfrm>
            <a:off x="10073640" y="1783080"/>
            <a:ext cx="433832" cy="274320"/>
          </a:xfrm>
          <a:prstGeom prst="rect">
            <a:avLst/>
          </a:prstGeom>
          <a:solidFill>
            <a:srgbClr val="6F2A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1"/>
          <p:cNvSpPr txBox="1"/>
          <p:nvPr/>
        </p:nvSpPr>
        <p:spPr>
          <a:xfrm>
            <a:off x="1007364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S16</a:t>
            </a:r>
            <a:endParaRPr/>
          </a:p>
        </p:txBody>
      </p:sp>
      <p:sp>
        <p:nvSpPr>
          <p:cNvPr id="724" name="Google Shape;724;p21"/>
          <p:cNvSpPr/>
          <p:nvPr/>
        </p:nvSpPr>
        <p:spPr>
          <a:xfrm>
            <a:off x="10525760" y="1783080"/>
            <a:ext cx="433832" cy="274320"/>
          </a:xfrm>
          <a:prstGeom prst="rect">
            <a:avLst/>
          </a:prstGeom>
          <a:solidFill>
            <a:srgbClr val="8E2A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1"/>
          <p:cNvSpPr txBox="1"/>
          <p:nvPr/>
        </p:nvSpPr>
        <p:spPr>
          <a:xfrm>
            <a:off x="1052576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S17</a:t>
            </a:r>
            <a:endParaRPr/>
          </a:p>
        </p:txBody>
      </p:sp>
      <p:sp>
        <p:nvSpPr>
          <p:cNvPr id="726" name="Google Shape;726;p21"/>
          <p:cNvSpPr/>
          <p:nvPr/>
        </p:nvSpPr>
        <p:spPr>
          <a:xfrm>
            <a:off x="10977880" y="1783080"/>
            <a:ext cx="433832" cy="274320"/>
          </a:xfrm>
          <a:prstGeom prst="rect">
            <a:avLst/>
          </a:prstGeom>
          <a:solidFill>
            <a:srgbClr val="6F2A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1"/>
          <p:cNvSpPr txBox="1"/>
          <p:nvPr/>
        </p:nvSpPr>
        <p:spPr>
          <a:xfrm>
            <a:off x="10977880" y="1783080"/>
            <a:ext cx="4338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S18</a:t>
            </a:r>
            <a:endParaRPr/>
          </a:p>
        </p:txBody>
      </p:sp>
      <p:sp>
        <p:nvSpPr>
          <p:cNvPr id="728" name="Google Shape;728;p21"/>
          <p:cNvSpPr txBox="1"/>
          <p:nvPr/>
        </p:nvSpPr>
        <p:spPr>
          <a:xfrm>
            <a:off x="640080" y="22860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0 · Levantamiento y diseño</a:t>
            </a:r>
            <a:endParaRPr/>
          </a:p>
        </p:txBody>
      </p:sp>
      <p:sp>
        <p:nvSpPr>
          <p:cNvPr id="729" name="Google Shape;729;p21"/>
          <p:cNvSpPr/>
          <p:nvPr/>
        </p:nvSpPr>
        <p:spPr>
          <a:xfrm>
            <a:off x="3291840" y="2304288"/>
            <a:ext cx="8138160" cy="38404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1"/>
          <p:cNvSpPr/>
          <p:nvPr/>
        </p:nvSpPr>
        <p:spPr>
          <a:xfrm>
            <a:off x="3291840" y="2304288"/>
            <a:ext cx="1790192" cy="384048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1"/>
          <p:cNvSpPr txBox="1"/>
          <p:nvPr/>
        </p:nvSpPr>
        <p:spPr>
          <a:xfrm>
            <a:off x="3291840" y="2304288"/>
            <a:ext cx="1790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/>
          </a:p>
        </p:txBody>
      </p:sp>
      <p:sp>
        <p:nvSpPr>
          <p:cNvPr id="732" name="Google Shape;732;p21"/>
          <p:cNvSpPr txBox="1"/>
          <p:nvPr/>
        </p:nvSpPr>
        <p:spPr>
          <a:xfrm>
            <a:off x="640080" y="285292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1 · Base del sistema y sitio</a:t>
            </a:r>
            <a:endParaRPr/>
          </a:p>
        </p:txBody>
      </p:sp>
      <p:sp>
        <p:nvSpPr>
          <p:cNvPr id="733" name="Google Shape;733;p21"/>
          <p:cNvSpPr/>
          <p:nvPr/>
        </p:nvSpPr>
        <p:spPr>
          <a:xfrm>
            <a:off x="3291840" y="2871216"/>
            <a:ext cx="8138160" cy="38404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1"/>
          <p:cNvSpPr/>
          <p:nvPr/>
        </p:nvSpPr>
        <p:spPr>
          <a:xfrm>
            <a:off x="5100320" y="2871216"/>
            <a:ext cx="1790192" cy="384048"/>
          </a:xfrm>
          <a:prstGeom prst="rect">
            <a:avLst/>
          </a:prstGeom>
          <a:solidFill>
            <a:srgbClr val="1D8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1"/>
          <p:cNvSpPr txBox="1"/>
          <p:nvPr/>
        </p:nvSpPr>
        <p:spPr>
          <a:xfrm>
            <a:off x="5100320" y="2871216"/>
            <a:ext cx="1790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/>
          </a:p>
        </p:txBody>
      </p:sp>
      <p:sp>
        <p:nvSpPr>
          <p:cNvPr id="736" name="Google Shape;736;p21"/>
          <p:cNvSpPr txBox="1"/>
          <p:nvPr/>
        </p:nvSpPr>
        <p:spPr>
          <a:xfrm>
            <a:off x="640080" y="3419856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2 · Gestión comercial</a:t>
            </a:r>
            <a:endParaRPr/>
          </a:p>
        </p:txBody>
      </p:sp>
      <p:sp>
        <p:nvSpPr>
          <p:cNvPr id="737" name="Google Shape;737;p21"/>
          <p:cNvSpPr/>
          <p:nvPr/>
        </p:nvSpPr>
        <p:spPr>
          <a:xfrm>
            <a:off x="3291840" y="3438144"/>
            <a:ext cx="8138160" cy="38404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1"/>
          <p:cNvSpPr/>
          <p:nvPr/>
        </p:nvSpPr>
        <p:spPr>
          <a:xfrm>
            <a:off x="6908800" y="3438144"/>
            <a:ext cx="1338072" cy="384048"/>
          </a:xfrm>
          <a:prstGeom prst="rect">
            <a:avLst/>
          </a:prstGeom>
          <a:solidFill>
            <a:srgbClr val="D97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1"/>
          <p:cNvSpPr txBox="1"/>
          <p:nvPr/>
        </p:nvSpPr>
        <p:spPr>
          <a:xfrm>
            <a:off x="6908800" y="3438144"/>
            <a:ext cx="1338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/>
          </a:p>
        </p:txBody>
      </p:sp>
      <p:sp>
        <p:nvSpPr>
          <p:cNvPr id="740" name="Google Shape;740;p21"/>
          <p:cNvSpPr txBox="1"/>
          <p:nvPr/>
        </p:nvSpPr>
        <p:spPr>
          <a:xfrm>
            <a:off x="640080" y="3986783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3 · Portal de clientes</a:t>
            </a:r>
            <a:endParaRPr/>
          </a:p>
        </p:txBody>
      </p:sp>
      <p:sp>
        <p:nvSpPr>
          <p:cNvPr id="741" name="Google Shape;741;p21"/>
          <p:cNvSpPr/>
          <p:nvPr/>
        </p:nvSpPr>
        <p:spPr>
          <a:xfrm>
            <a:off x="3291840" y="4005071"/>
            <a:ext cx="8138160" cy="38404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1"/>
          <p:cNvSpPr/>
          <p:nvPr/>
        </p:nvSpPr>
        <p:spPr>
          <a:xfrm>
            <a:off x="8265160" y="4005071"/>
            <a:ext cx="1338072" cy="384048"/>
          </a:xfrm>
          <a:prstGeom prst="rect">
            <a:avLst/>
          </a:prstGeom>
          <a:solidFill>
            <a:srgbClr val="E3DE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1"/>
          <p:cNvSpPr txBox="1"/>
          <p:nvPr/>
        </p:nvSpPr>
        <p:spPr>
          <a:xfrm>
            <a:off x="8265160" y="4005071"/>
            <a:ext cx="1338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Planificado</a:t>
            </a:r>
            <a:endParaRPr/>
          </a:p>
        </p:txBody>
      </p:sp>
      <p:sp>
        <p:nvSpPr>
          <p:cNvPr id="744" name="Google Shape;744;p21"/>
          <p:cNvSpPr txBox="1"/>
          <p:nvPr/>
        </p:nvSpPr>
        <p:spPr>
          <a:xfrm>
            <a:off x="640080" y="4553712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4 · Métricas e IA</a:t>
            </a:r>
            <a:endParaRPr/>
          </a:p>
        </p:txBody>
      </p:sp>
      <p:sp>
        <p:nvSpPr>
          <p:cNvPr id="745" name="Google Shape;745;p21"/>
          <p:cNvSpPr/>
          <p:nvPr/>
        </p:nvSpPr>
        <p:spPr>
          <a:xfrm>
            <a:off x="3291840" y="4572000"/>
            <a:ext cx="8138160" cy="38404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1"/>
          <p:cNvSpPr/>
          <p:nvPr/>
        </p:nvSpPr>
        <p:spPr>
          <a:xfrm>
            <a:off x="9621520" y="4572000"/>
            <a:ext cx="1338072" cy="384048"/>
          </a:xfrm>
          <a:prstGeom prst="rect">
            <a:avLst/>
          </a:prstGeom>
          <a:solidFill>
            <a:srgbClr val="E3DE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1"/>
          <p:cNvSpPr txBox="1"/>
          <p:nvPr/>
        </p:nvSpPr>
        <p:spPr>
          <a:xfrm>
            <a:off x="9621520" y="4572000"/>
            <a:ext cx="1338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Planificado</a:t>
            </a:r>
            <a:endParaRPr/>
          </a:p>
        </p:txBody>
      </p:sp>
      <p:sp>
        <p:nvSpPr>
          <p:cNvPr id="748" name="Google Shape;748;p21"/>
          <p:cNvSpPr txBox="1"/>
          <p:nvPr/>
        </p:nvSpPr>
        <p:spPr>
          <a:xfrm>
            <a:off x="640080" y="5120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5 · Pruebas, despliegue y cierre</a:t>
            </a:r>
            <a:endParaRPr/>
          </a:p>
        </p:txBody>
      </p:sp>
      <p:sp>
        <p:nvSpPr>
          <p:cNvPr id="749" name="Google Shape;749;p21"/>
          <p:cNvSpPr/>
          <p:nvPr/>
        </p:nvSpPr>
        <p:spPr>
          <a:xfrm>
            <a:off x="3291840" y="5138927"/>
            <a:ext cx="8138160" cy="38404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1"/>
          <p:cNvSpPr/>
          <p:nvPr/>
        </p:nvSpPr>
        <p:spPr>
          <a:xfrm>
            <a:off x="10525760" y="5138927"/>
            <a:ext cx="885952" cy="384048"/>
          </a:xfrm>
          <a:prstGeom prst="rect">
            <a:avLst/>
          </a:prstGeom>
          <a:solidFill>
            <a:srgbClr val="E3DE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1"/>
          <p:cNvSpPr txBox="1"/>
          <p:nvPr/>
        </p:nvSpPr>
        <p:spPr>
          <a:xfrm>
            <a:off x="10525760" y="5138927"/>
            <a:ext cx="8859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Planificado</a:t>
            </a:r>
            <a:endParaRPr/>
          </a:p>
        </p:txBody>
      </p:sp>
      <p:cxnSp>
        <p:nvCxnSpPr>
          <p:cNvPr id="752" name="Google Shape;752;p21"/>
          <p:cNvCxnSpPr/>
          <p:nvPr/>
        </p:nvCxnSpPr>
        <p:spPr>
          <a:xfrm>
            <a:off x="7454000" y="2103120"/>
            <a:ext cx="0" cy="3611880"/>
          </a:xfrm>
          <a:prstGeom prst="straightConnector1">
            <a:avLst/>
          </a:prstGeom>
          <a:noFill/>
          <a:ln w="28575" cap="flat" cmpd="sng">
            <a:solidFill>
              <a:srgbClr val="C23B6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753" name="Google Shape;753;p21"/>
          <p:cNvSpPr txBox="1"/>
          <p:nvPr/>
        </p:nvSpPr>
        <p:spPr>
          <a:xfrm>
            <a:off x="6905360" y="574243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Hoy · 13 oct (S10)</a:t>
            </a:r>
            <a:endParaRPr/>
          </a:p>
        </p:txBody>
      </p:sp>
      <p:sp>
        <p:nvSpPr>
          <p:cNvPr id="754" name="Google Shape;754;p21"/>
          <p:cNvSpPr/>
          <p:nvPr/>
        </p:nvSpPr>
        <p:spPr>
          <a:xfrm>
            <a:off x="4917440" y="5989320"/>
            <a:ext cx="182880" cy="182880"/>
          </a:xfrm>
          <a:prstGeom prst="diamond">
            <a:avLst/>
          </a:prstGeom>
          <a:solidFill>
            <a:srgbClr val="D97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1"/>
          <p:cNvSpPr txBox="1"/>
          <p:nvPr/>
        </p:nvSpPr>
        <p:spPr>
          <a:xfrm>
            <a:off x="4185919" y="619963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Hito 1</a:t>
            </a:r>
            <a:endParaRPr/>
          </a:p>
        </p:txBody>
      </p:sp>
      <p:sp>
        <p:nvSpPr>
          <p:cNvPr id="756" name="Google Shape;756;p21"/>
          <p:cNvSpPr/>
          <p:nvPr/>
        </p:nvSpPr>
        <p:spPr>
          <a:xfrm>
            <a:off x="9438640" y="5989320"/>
            <a:ext cx="182880" cy="182880"/>
          </a:xfrm>
          <a:prstGeom prst="diamond">
            <a:avLst/>
          </a:prstGeom>
          <a:solidFill>
            <a:srgbClr val="D97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1"/>
          <p:cNvSpPr txBox="1"/>
          <p:nvPr/>
        </p:nvSpPr>
        <p:spPr>
          <a:xfrm>
            <a:off x="8707120" y="619963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Hito 2</a:t>
            </a:r>
            <a:endParaRPr/>
          </a:p>
        </p:txBody>
      </p:sp>
      <p:sp>
        <p:nvSpPr>
          <p:cNvPr id="758" name="Google Shape;758;p21"/>
          <p:cNvSpPr/>
          <p:nvPr/>
        </p:nvSpPr>
        <p:spPr>
          <a:xfrm>
            <a:off x="11247120" y="5989320"/>
            <a:ext cx="182880" cy="182880"/>
          </a:xfrm>
          <a:prstGeom prst="diamond">
            <a:avLst/>
          </a:prstGeom>
          <a:solidFill>
            <a:srgbClr val="D97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1"/>
          <p:cNvSpPr txBox="1"/>
          <p:nvPr/>
        </p:nvSpPr>
        <p:spPr>
          <a:xfrm>
            <a:off x="10515600" y="619963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Hito 3</a:t>
            </a:r>
            <a:endParaRPr/>
          </a:p>
        </p:txBody>
      </p:sp>
      <p:sp>
        <p:nvSpPr>
          <p:cNvPr id="760" name="Google Shape;760;p21"/>
          <p:cNvSpPr txBox="1"/>
          <p:nvPr/>
        </p:nvSpPr>
        <p:spPr>
          <a:xfrm>
            <a:off x="640080" y="5989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Hitos (según Carta Gantt)</a:t>
            </a:r>
            <a:endParaRPr/>
          </a:p>
        </p:txBody>
      </p:sp>
      <p:sp>
        <p:nvSpPr>
          <p:cNvPr id="761" name="Google Shape;761;p21"/>
          <p:cNvSpPr txBox="1"/>
          <p:nvPr/>
        </p:nvSpPr>
        <p:spPr>
          <a:xfrm>
            <a:off x="7406640" y="14813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Fechas de S0, S1 y S2 según planillas; S3 a S5 según Carta Gantt original.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12 · DEMOSTRACIÓN DEL INCREMENTO</a:t>
            </a:r>
            <a:endParaRPr/>
          </a:p>
        </p:txBody>
      </p:sp>
      <p:sp>
        <p:nvSpPr>
          <p:cNvPr id="767" name="Google Shape;767;p22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Demostración del incremento (solo historias clave)</a:t>
            </a:r>
            <a:endParaRPr/>
          </a:p>
        </p:txBody>
      </p:sp>
      <p:sp>
        <p:nvSpPr>
          <p:cNvPr id="768" name="Google Shape;768;p22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769" name="Google Shape;769;p22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770" name="Google Shape;770;p22"/>
          <p:cNvSpPr/>
          <p:nvPr/>
        </p:nvSpPr>
        <p:spPr>
          <a:xfrm>
            <a:off x="640080" y="1828800"/>
            <a:ext cx="5212080" cy="429768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2"/>
          <p:cNvSpPr txBox="1"/>
          <p:nvPr/>
        </p:nvSpPr>
        <p:spPr>
          <a:xfrm>
            <a:off x="914400" y="201168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HISTORIAS CLAVE A MOSTRAR (confirmadas)</a:t>
            </a:r>
            <a:endParaRPr/>
          </a:p>
        </p:txBody>
      </p:sp>
      <p:sp>
        <p:nvSpPr>
          <p:cNvPr id="772" name="Google Shape;772;p22"/>
          <p:cNvSpPr txBox="1"/>
          <p:nvPr/>
        </p:nvSpPr>
        <p:spPr>
          <a:xfrm>
            <a:off x="914400" y="2514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773" name="Google Shape;773;p22"/>
          <p:cNvSpPr txBox="1"/>
          <p:nvPr/>
        </p:nvSpPr>
        <p:spPr>
          <a:xfrm>
            <a:off x="1371600" y="256032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Prospecto cotiza en línea y recibe un plan sugerido (COT-01, CAP-01)</a:t>
            </a:r>
            <a:endParaRPr/>
          </a:p>
        </p:txBody>
      </p:sp>
      <p:sp>
        <p:nvSpPr>
          <p:cNvPr id="774" name="Google Shape;774;p22"/>
          <p:cNvSpPr txBox="1"/>
          <p:nvPr/>
        </p:nvSpPr>
        <p:spPr>
          <a:xfrm>
            <a:off x="914400" y="32278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775" name="Google Shape;775;p22"/>
          <p:cNvSpPr txBox="1"/>
          <p:nvPr/>
        </p:nvSpPr>
        <p:spPr>
          <a:xfrm>
            <a:off x="1371600" y="3273552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La agencia ve el prospecto en lista/kanban y revisa la cotización (PRO-01, COT-02)</a:t>
            </a:r>
            <a:endParaRPr/>
          </a:p>
        </p:txBody>
      </p:sp>
      <p:sp>
        <p:nvSpPr>
          <p:cNvPr id="776" name="Google Shape;776;p22"/>
          <p:cNvSpPr txBox="1"/>
          <p:nvPr/>
        </p:nvSpPr>
        <p:spPr>
          <a:xfrm>
            <a:off x="914400" y="39410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777" name="Google Shape;777;p22"/>
          <p:cNvSpPr txBox="1"/>
          <p:nvPr/>
        </p:nvSpPr>
        <p:spPr>
          <a:xfrm>
            <a:off x="1371600" y="3986783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Conversión a cliente y ficha del cliente con KPIs (CLI-01, CLI-02)</a:t>
            </a:r>
            <a:endParaRPr/>
          </a:p>
        </p:txBody>
      </p:sp>
      <p:sp>
        <p:nvSpPr>
          <p:cNvPr id="778" name="Google Shape;778;p22"/>
          <p:cNvSpPr txBox="1"/>
          <p:nvPr/>
        </p:nvSpPr>
        <p:spPr>
          <a:xfrm>
            <a:off x="914400" y="46542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779" name="Google Shape;779;p22"/>
          <p:cNvSpPr txBox="1"/>
          <p:nvPr/>
        </p:nvSpPr>
        <p:spPr>
          <a:xfrm>
            <a:off x="1371600" y="4700016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Una colaboradora solo ve a sus clientes asignados (AUT-04, TEC-04)</a:t>
            </a:r>
            <a:endParaRPr/>
          </a:p>
        </p:txBody>
      </p:sp>
      <p:sp>
        <p:nvSpPr>
          <p:cNvPr id="780" name="Google Shape;780;p22"/>
          <p:cNvSpPr txBox="1"/>
          <p:nvPr/>
        </p:nvSpPr>
        <p:spPr>
          <a:xfrm>
            <a:off x="914400" y="5367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/>
          </a:p>
        </p:txBody>
      </p:sp>
      <p:sp>
        <p:nvSpPr>
          <p:cNvPr id="781" name="Google Shape;781;p22"/>
          <p:cNvSpPr txBox="1"/>
          <p:nvPr/>
        </p:nvSpPr>
        <p:spPr>
          <a:xfrm>
            <a:off x="1371600" y="5413248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Administradora edita el sitio desde el CMS sin código (WEB-02)</a:t>
            </a:r>
            <a:endParaRPr/>
          </a:p>
        </p:txBody>
      </p:sp>
      <p:sp>
        <p:nvSpPr>
          <p:cNvPr id="782" name="Google Shape;782;p22"/>
          <p:cNvSpPr/>
          <p:nvPr/>
        </p:nvSpPr>
        <p:spPr>
          <a:xfrm>
            <a:off x="6126480" y="1828800"/>
            <a:ext cx="5394960" cy="2011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2"/>
          <p:cNvSpPr txBox="1"/>
          <p:nvPr/>
        </p:nvSpPr>
        <p:spPr>
          <a:xfrm>
            <a:off x="6400800" y="196596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FORMATO Y HOSTING</a:t>
            </a:r>
            <a:endParaRPr/>
          </a:p>
        </p:txBody>
      </p:sp>
      <p:sp>
        <p:nvSpPr>
          <p:cNvPr id="784" name="Google Shape;784;p22"/>
          <p:cNvSpPr txBox="1"/>
          <p:nvPr/>
        </p:nvSpPr>
        <p:spPr>
          <a:xfrm>
            <a:off x="6400800" y="2331720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Exigencia del profesor: demostración en vivo, sobre hosting con IP pública.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Plan A (decidido):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video grabado de la demo; Felipe consulta al profesor si lo acepta.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Plan B: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despliegue en Vercel como segunda opción.</a:t>
            </a:r>
            <a:endParaRPr/>
          </a:p>
        </p:txBody>
      </p:sp>
      <p:sp>
        <p:nvSpPr>
          <p:cNvPr id="785" name="Google Shape;785;p22"/>
          <p:cNvSpPr/>
          <p:nvPr/>
        </p:nvSpPr>
        <p:spPr>
          <a:xfrm>
            <a:off x="6126480" y="4023360"/>
            <a:ext cx="5394960" cy="2103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2"/>
          <p:cNvSpPr txBox="1"/>
          <p:nvPr/>
        </p:nvSpPr>
        <p:spPr>
          <a:xfrm>
            <a:off x="6400800" y="41605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PENDIENTES ANTES DE LA DEMO</a:t>
            </a:r>
            <a:endParaRPr/>
          </a:p>
        </p:txBody>
      </p:sp>
      <p:sp>
        <p:nvSpPr>
          <p:cNvPr id="787" name="Google Shape;787;p22"/>
          <p:cNvSpPr txBox="1"/>
          <p:nvPr/>
        </p:nvSpPr>
        <p:spPr>
          <a:xfrm>
            <a:off x="6400800" y="4526280"/>
            <a:ext cx="484632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Presentación: martes 6 de octubre de 2026.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Grabar el video de las 5 historias antes de presentar.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Confirmar con el profesor que el video es válido.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Hosting y URL pública: por definir (hoy solo corre en local con Supabase).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Cuentas y datos de prueba para cada rol.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3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13 · CONCLUSIONES Y PRÓXIMOS PASOS</a:t>
            </a:r>
            <a:endParaRPr/>
          </a:p>
        </p:txBody>
      </p:sp>
      <p:sp>
        <p:nvSpPr>
          <p:cNvPr id="793" name="Google Shape;793;p2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Conclusiones y próximos pasos</a:t>
            </a:r>
            <a:endParaRPr/>
          </a:p>
        </p:txBody>
      </p:sp>
      <p:sp>
        <p:nvSpPr>
          <p:cNvPr id="794" name="Google Shape;794;p23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795" name="Google Shape;795;p23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796" name="Google Shape;796;p23"/>
          <p:cNvSpPr/>
          <p:nvPr/>
        </p:nvSpPr>
        <p:spPr>
          <a:xfrm>
            <a:off x="640080" y="1828800"/>
            <a:ext cx="5394960" cy="429768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3"/>
          <p:cNvSpPr txBox="1"/>
          <p:nvPr/>
        </p:nvSpPr>
        <p:spPr>
          <a:xfrm>
            <a:off x="914400" y="20116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/>
          </a:p>
        </p:txBody>
      </p:sp>
      <p:sp>
        <p:nvSpPr>
          <p:cNvPr id="798" name="Google Shape;798;p23"/>
          <p:cNvSpPr txBox="1"/>
          <p:nvPr/>
        </p:nvSpPr>
        <p:spPr>
          <a:xfrm>
            <a:off x="914400" y="2423160"/>
            <a:ext cx="484632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Fase 1 construida: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sitio corporativo, CMS, SEO, analítica, login con 2FA, catálogo y captación (S1: 60 de 65 pts).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2 en marcha: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prospectos, cotizador, conversión, ficha del cliente y aislamiento ya tienen avance; 7 de 65 pts en Hecho al 13 oct.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Aislamiento por cliente: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solución central de seguridad, cubierta por pruebas automáticas en verde.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Validación con la agencia: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S1 revisado el 27 sep con feedback concreto; S0 sin validar.</a:t>
            </a:r>
            <a:endParaRPr/>
          </a:p>
        </p:txBody>
      </p:sp>
      <p:sp>
        <p:nvSpPr>
          <p:cNvPr id="799" name="Google Shape;799;p23"/>
          <p:cNvSpPr/>
          <p:nvPr/>
        </p:nvSpPr>
        <p:spPr>
          <a:xfrm>
            <a:off x="6309360" y="1828800"/>
            <a:ext cx="5212080" cy="429768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3"/>
          <p:cNvSpPr txBox="1"/>
          <p:nvPr/>
        </p:nvSpPr>
        <p:spPr>
          <a:xfrm>
            <a:off x="6583680" y="201168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/>
          </a:p>
        </p:txBody>
      </p:sp>
      <p:sp>
        <p:nvSpPr>
          <p:cNvPr id="801" name="Google Shape;801;p23"/>
          <p:cNvSpPr txBox="1"/>
          <p:nvPr/>
        </p:nvSpPr>
        <p:spPr>
          <a:xfrm>
            <a:off x="6583680" y="2423160"/>
            <a:ext cx="466344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Cerrar el Sprint 2 (23 oct):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validar historias contra criterios, vista de cliente (AUT-05) y acta.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Decidir hosting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y publicar con IP pública para la demo.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3: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portal de clientes, calendario y aprobación.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4: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métricas y las demás funciones de IA (la conexión con Gemini ya está hecha).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5: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pruebas de seguridad y rendimiento, despliegue y acta de aceptación.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Definir al Product Owner </a:t>
            </a: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y firmar las actas.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4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14 · REFLEXIÓN FINAL</a:t>
            </a:r>
            <a:endParaRPr/>
          </a:p>
        </p:txBody>
      </p:sp>
      <p:sp>
        <p:nvSpPr>
          <p:cNvPr id="807" name="Google Shape;807;p24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Reflexión final del equipo</a:t>
            </a:r>
            <a:endParaRPr/>
          </a:p>
        </p:txBody>
      </p:sp>
      <p:sp>
        <p:nvSpPr>
          <p:cNvPr id="808" name="Google Shape;808;p24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/>
          </a:p>
        </p:txBody>
      </p:sp>
      <p:sp>
        <p:nvSpPr>
          <p:cNvPr id="809" name="Google Shape;809;p24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810" name="Google Shape;810;p24"/>
          <p:cNvSpPr/>
          <p:nvPr/>
        </p:nvSpPr>
        <p:spPr>
          <a:xfrm>
            <a:off x="640080" y="1828800"/>
            <a:ext cx="3474720" cy="429768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4"/>
          <p:cNvSpPr txBox="1"/>
          <p:nvPr/>
        </p:nvSpPr>
        <p:spPr>
          <a:xfrm>
            <a:off x="868680" y="1874519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/>
          </a:p>
        </p:txBody>
      </p:sp>
      <p:sp>
        <p:nvSpPr>
          <p:cNvPr id="812" name="Google Shape;812;p24"/>
          <p:cNvSpPr txBox="1"/>
          <p:nvPr/>
        </p:nvSpPr>
        <p:spPr>
          <a:xfrm>
            <a:off x="868680" y="2606040"/>
            <a:ext cx="30175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Trabajar en Plataforma Cosmopolitan me obliga a moverme entre capas: desde el modelo de datos y el aislamiento por cliente, hasta la integración de Gemini para generar cotizaciones y reportes. Lo que más voy a aprender es a diseñar pensando en seguridad desde la base, no como un parche al final: cada decisión de arquitectura tiene que responder primero “¿a qué cliente pertenece esto?” antes de resolver cualquier otra cosa.</a:t>
            </a:r>
            <a:endParaRPr/>
          </a:p>
        </p:txBody>
      </p:sp>
      <p:sp>
        <p:nvSpPr>
          <p:cNvPr id="813" name="Google Shape;813;p24"/>
          <p:cNvSpPr txBox="1"/>
          <p:nvPr/>
        </p:nvSpPr>
        <p:spPr>
          <a:xfrm>
            <a:off x="868680" y="56692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Felipe Gutiérrez</a:t>
            </a:r>
            <a:endParaRPr/>
          </a:p>
        </p:txBody>
      </p:sp>
      <p:sp>
        <p:nvSpPr>
          <p:cNvPr id="814" name="Google Shape;814;p24"/>
          <p:cNvSpPr/>
          <p:nvPr/>
        </p:nvSpPr>
        <p:spPr>
          <a:xfrm>
            <a:off x="4343400" y="1828800"/>
            <a:ext cx="3474720" cy="429768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4"/>
          <p:cNvSpPr txBox="1"/>
          <p:nvPr/>
        </p:nvSpPr>
        <p:spPr>
          <a:xfrm>
            <a:off x="4572000" y="1874519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/>
          </a:p>
        </p:txBody>
      </p:sp>
      <p:sp>
        <p:nvSpPr>
          <p:cNvPr id="816" name="Google Shape;816;p24"/>
          <p:cNvSpPr txBox="1"/>
          <p:nvPr/>
        </p:nvSpPr>
        <p:spPr>
          <a:xfrm>
            <a:off x="4572000" y="2606040"/>
            <a:ext cx="30175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Concluyo que este trabajo me sirve profesionalmente, porque me permitió mejorar en el área en la que me quiero especializar: datos. Trabajar en cómo se maneja y se utiliza la información de cada cliente, desde cómo se estructura hasta cómo se usa para generar reportes, cotizaciones y respuestas de la IA, fue la parte del proyecto que más se conecta con lo que quiero seguir desarrollando.</a:t>
            </a:r>
            <a:endParaRPr/>
          </a:p>
        </p:txBody>
      </p:sp>
      <p:sp>
        <p:nvSpPr>
          <p:cNvPr id="817" name="Google Shape;817;p24"/>
          <p:cNvSpPr txBox="1"/>
          <p:nvPr/>
        </p:nvSpPr>
        <p:spPr>
          <a:xfrm>
            <a:off x="4572000" y="56692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Christian Cuadra</a:t>
            </a:r>
            <a:endParaRPr/>
          </a:p>
        </p:txBody>
      </p:sp>
      <p:sp>
        <p:nvSpPr>
          <p:cNvPr id="818" name="Google Shape;818;p24"/>
          <p:cNvSpPr/>
          <p:nvPr/>
        </p:nvSpPr>
        <p:spPr>
          <a:xfrm>
            <a:off x="8046719" y="1828800"/>
            <a:ext cx="3474720" cy="429768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4"/>
          <p:cNvSpPr txBox="1"/>
          <p:nvPr/>
        </p:nvSpPr>
        <p:spPr>
          <a:xfrm>
            <a:off x="8275319" y="1874519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/>
          </a:p>
        </p:txBody>
      </p:sp>
      <p:sp>
        <p:nvSpPr>
          <p:cNvPr id="820" name="Google Shape;820;p24"/>
          <p:cNvSpPr txBox="1"/>
          <p:nvPr/>
        </p:nvSpPr>
        <p:spPr>
          <a:xfrm>
            <a:off x="8275319" y="2606040"/>
            <a:ext cx="30175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Hasta esta primera etapa, uno de los principales aprendizajes ha sido entender que antes de desarrollar una solución es fundamental conocer bien el problema y definir con claridad qué se quiere resolver. Me gustó especialmente el proceso de analizar las necesidades de la agencia y comenzar a convertirlas en requerimientos y objetivos concretos. Esta fase me permitió valorar mucho más la planificación inicial.</a:t>
            </a:r>
            <a:endParaRPr/>
          </a:p>
        </p:txBody>
      </p:sp>
      <p:sp>
        <p:nvSpPr>
          <p:cNvPr id="821" name="Google Shape;821;p24"/>
          <p:cNvSpPr txBox="1"/>
          <p:nvPr/>
        </p:nvSpPr>
        <p:spPr>
          <a:xfrm>
            <a:off x="8275319" y="56692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Esteban Morales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F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5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5628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5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/>
          </a:p>
        </p:txBody>
      </p:sp>
      <p:sp>
        <p:nvSpPr>
          <p:cNvPr id="829" name="Google Shape;829;p25"/>
          <p:cNvSpPr txBox="1"/>
          <p:nvPr/>
        </p:nvSpPr>
        <p:spPr>
          <a:xfrm>
            <a:off x="914400" y="3749039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Plataforma Cosmopolitan · Esteban Morales · Christian Cuadra · Felipe Gutiérrez</a:t>
            </a:r>
            <a:endParaRPr/>
          </a:p>
        </p:txBody>
      </p:sp>
      <p:sp>
        <p:nvSpPr>
          <p:cNvPr id="830" name="Google Shape;830;p2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D8D2DC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3461</Words>
  <Application>Microsoft Office PowerPoint</Application>
  <PresentationFormat>Panorámica</PresentationFormat>
  <Paragraphs>627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Poppins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gutierrez robinson</cp:lastModifiedBy>
  <cp:revision>1</cp:revision>
  <dcterms:created xsi:type="dcterms:W3CDTF">2013-01-27T09:14:16Z</dcterms:created>
  <dcterms:modified xsi:type="dcterms:W3CDTF">2026-10-06T19:02:57Z</dcterms:modified>
</cp:coreProperties>
</file>