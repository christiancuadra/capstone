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embeddedFontLs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UjqeDidWkOtv2C9n9yepskUaT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F2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-480848" y="0"/>
            <a:ext cx="4572000" cy="6858000"/>
          </a:xfrm>
          <a:prstGeom prst="rect">
            <a:avLst/>
          </a:prstGeom>
          <a:solidFill>
            <a:srgbClr val="2E24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8E2A49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C23B6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77240" y="224028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oppins"/>
              <a:buNone/>
            </a:pPr>
            <a:r>
              <a:rPr b="1"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 Cosmopolitan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333756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FD6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D8CFD6"/>
                </a:solidFill>
                <a:latin typeface="Calibri"/>
                <a:ea typeface="Calibri"/>
                <a:cs typeface="Calibri"/>
                <a:sym typeface="Calibri"/>
              </a:rPr>
              <a:t>Centralizando la gestión comercial y operativa de Agencia Cosmopolitan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55195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630155" y="555419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Esteban Morales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Christian Cuadra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Felipe Gutierrez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90393" y="791060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Tabla de contenidos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196596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234440" y="1993392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280720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234440" y="283464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3648456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234465" y="3726088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4489704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34440" y="4517136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5330952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846315" y="2848397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Épicas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251960" y="196596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280145" y="5358342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Requerimientos funcionales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251960" y="280720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846320" y="2020840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Requerimientos no funcionales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51960" y="3648456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92045" y="5358351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251960" y="4489704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46320" y="3669049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Historias de usuario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251960" y="5330952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46358" y="4558259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863840" y="196596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351350" y="4558242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Roles del equipo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863840" y="280720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300450" y="1952203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863840" y="3648456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351350" y="2839150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863840" y="4489704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376425" y="3726111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Carta Gantt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863840" y="5330952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376425" y="5358384"/>
            <a:ext cx="288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Una agencia que crece más rápido que sus procesos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0080" y="1874520"/>
            <a:ext cx="6309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400"/>
              <a:buFont typeface="Calibri"/>
              <a:buNone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Agencia Cosmopolitan es una agencia de marketing digital compuesta por dos socias, orientada a emprendedores, pymes, marcas personales y empresas medianas. Ofrece cuatro planes mensuales y servicios contratables por separado.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0080" y="3429000"/>
            <a:ext cx="6309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400"/>
              <a:buFont typeface="Calibri"/>
              <a:buNone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Hoy la operación se gestiona en Notion, herramienta que el equipo reporta como difícil de mantener, y la comunicación con clientes se realiza por canales informales.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315200" y="1965960"/>
            <a:ext cx="4206240" cy="384048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635240" y="2057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CADENA DE VALOR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635240" y="246888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001000" y="24688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Prospecto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635240" y="28346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001000" y="28346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Cotización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635240" y="320040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001000" y="32004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635240" y="35661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001000" y="35661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Plan contratado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635240" y="39319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001000" y="39319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Producción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635240" y="429768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001000" y="42976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Aprobación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635240" y="46634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7.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001000" y="46634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Publicación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635240" y="502920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8.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001000" y="50292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Métricas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635240" y="53949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A44"/>
                </a:solidFill>
                <a:latin typeface="Calibri"/>
                <a:ea typeface="Calibri"/>
                <a:cs typeface="Calibri"/>
                <a:sym typeface="Calibri"/>
              </a:rPr>
              <a:t>9.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001000" y="53949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Reporte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Visibilidad limitada y procesos manuales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40080" y="202082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14400" y="191109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Reporte mensual manual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14400" y="2185416"/>
            <a:ext cx="5074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4 días de elaboración por cliente: el proceso más costoso en horas.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0080" y="3099816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14400" y="2990088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Cotización manual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14400" y="3264408"/>
            <a:ext cx="5074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3 días hábiles comprometidos; retrasa el cierre comercial.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40080" y="417880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14400" y="4069080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Aprobación por canales informales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14400" y="4343400"/>
            <a:ext cx="5074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Envío de gráficas sin registro formal: sin trazabilidad de lo aprobado.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217920" y="202082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92240" y="191109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Control manual de la cuota del plan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492240" y="2185416"/>
            <a:ext cx="5074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Seguimiento manual de entregables: riesgo de incumplimiento contractual.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217920" y="3099816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492240" y="2990088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Información dispersa en Notion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92240" y="3264408"/>
            <a:ext cx="5074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Herramienta de difícil mantención: sin fuente única de verdad.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solidFill>
            <a:srgbClr val="F1EC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68680" y="562356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Problema central   </a:t>
            </a:r>
            <a:r>
              <a:rPr lang="en-US" sz="11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La agencia no dispone de un sistema que registre de forma trazable el cumplimiento de los planes ni el ciclo de aprobación de contenido, y elabora manualmente cotizaciones y reportes, concentrando en esas tareas una parte significativa del tiempo de un equipo de dos personas.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Lo que la agencia necesita resolver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40080" y="202082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14400" y="191109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Centralización con trazabilidad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14400" y="2203704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Una sola plataforma que reemplace Notion y los canales informales.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40080" y="2916936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914400" y="28072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Automatización asistida por IA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14400" y="3099816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Reducir el tiempo de cotización y reporte mediante generación asistida.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40080" y="3813048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14400" y="37033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Flujo formal de aprobación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14400" y="3995928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Registrar quién aprobó, cuándo y qué versión de cada contenido.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40080" y="4709160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14400" y="459943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Visibilidad del cumplimiento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14400" y="48920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Que agencia y clienta vean el estado del plan contratado en una pantalla.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949440" y="1723650"/>
            <a:ext cx="4572000" cy="42519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7269480" y="2057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CRITERIOS DE ÉXITO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269480" y="2514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635240" y="2487168"/>
            <a:ext cx="370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Una pieza de contenido recorre el ciclo completo, desde su creación hasta la aprobación de la clienta, sin salir de la plataforma.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269480" y="33558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635240" y="3328416"/>
            <a:ext cx="370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El borrador del reporte mensual se genera en minutos, frente a los 4 días actuales.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269480" y="41970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635240" y="4169664"/>
            <a:ext cx="370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El estado de cumplimiento del plan de cualquier cliente es visible en una pantalla.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269480" y="50383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635240" y="5010912"/>
            <a:ext cx="370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La agencia valida la solución en una sesión formal de aceptación.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Una plataforma web que ordena el ciclo completo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40080" y="1874520"/>
            <a:ext cx="10881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Diseñar e implementar una plataforma web responsiva que centralice la gestión comercial y operativa de Agencia Cosmopolitan, incorporando control de cumplimiento de planes, un flujo formal de aprobación de contenido, visualización de métricas y funcionalidades de Inteligencia Artificial aplicadas a cotizaciones, contenido y reportes.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40080" y="3337560"/>
            <a:ext cx="3520440" cy="2331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68680" y="35661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600"/>
              <a:buFont typeface="Poppins"/>
              <a:buNone/>
            </a:pPr>
            <a:r>
              <a:rPr b="1" lang="en-US" sz="16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68680" y="4023360"/>
            <a:ext cx="3063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Sitio corporativo, CMS, SEO, analítica y captación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68680" y="53035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Comprometida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389120" y="3337560"/>
            <a:ext cx="3520440" cy="2331720"/>
          </a:xfrm>
          <a:prstGeom prst="rect">
            <a:avLst/>
          </a:prstGeom>
          <a:solidFill>
            <a:srgbClr val="F1EC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617720" y="35661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600"/>
              <a:buFont typeface="Poppins"/>
              <a:buNone/>
            </a:pPr>
            <a:r>
              <a:rPr b="1" lang="en-US" sz="16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Fase 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617720" y="4023360"/>
            <a:ext cx="3063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Gestión comercial: prospectos, cotizador, conversión a cliente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617720" y="53035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Comprometida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138160" y="3337560"/>
            <a:ext cx="3520440" cy="233172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366760" y="35661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600"/>
              <a:buFont typeface="Poppins"/>
              <a:buNone/>
            </a:pPr>
            <a:r>
              <a:rPr b="1" lang="en-US" sz="16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Fase 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366760" y="4023360"/>
            <a:ext cx="3063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Portal de clientes: calendario, aprobaciones, solicitudes, archivos, métricas, KPIs, campañas y reportes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366760" y="53035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Comprometida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Requerimientos funcionales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40080" y="197510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914400" y="186537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Autenticación, roles y aislamiento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914400" y="2139696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Sesiones, 2FA para administradoras y ámbito de datos por cliente.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40080" y="302666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914400" y="291693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Catálogo de planes y servicios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14400" y="3191256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Planes y entregables administrables, sin intervención en código.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40080" y="407822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914400" y="396849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Gestión comercial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14400" y="4242816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Prospectos, kanban, conversión a cliente y cotizador dinámico.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40080" y="512978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914400" y="502005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Ficha del cliente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914400" y="5294376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Contrato, directrices de marca, objetivos, KPIs y documentos.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217920" y="197510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492240" y="186537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Cumplimiento del plan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492240" y="2139696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Entregables comprometidos vs. entregados y aprobados, por mes.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217920" y="302666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492240" y="291693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Calendario editorial y aprobación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492240" y="3191256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Estados, versionado y registro de quién aprobó y cuándo.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217920" y="407822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492240" y="396849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Campañas y métricas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492240" y="4242816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Ingesta por archivo e integración; dashboards por cliente.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217920" y="5129784"/>
            <a:ext cx="100584" cy="100584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492240" y="5020056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Portal del cliente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492240" y="5294376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Avance del plan, aprobaciones, KPIs, reportes y solicitudes.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Requerimientos no funcionales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40080" y="1874520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22960" y="1929384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Disponibilidad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2423160" y="1929384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Ambiente desplegado y accesible durante la evaluación.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40080" y="2660904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22960" y="271576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Rendimiento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423160" y="271576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Vistas principales bajo tres segundos con volumen de prueba.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40080" y="3447288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22960" y="3502152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423160" y="350215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Diseño responsivo desde 360 px, con enfoque mobile </a:t>
            </a: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first</a:t>
            </a: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40080" y="4233672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822960" y="4288536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Simplicidad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423160" y="4288536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Un solo camino por tarea, evitando configurabilidad excesiva.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40080" y="5020056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822960" y="507492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Accesibilidad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423160" y="50749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Contraste suficiente, navegación por teclado, formularios etiquetados.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172200" y="1874520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355080" y="1929384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Identidad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955280" y="1929384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Interfaz conforme al manual de marca de la agencia.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172200" y="2660904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355080" y="271576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955280" y="271576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URLs amigables, sitemap, metadatos, datos estructurados, Core Web Vitals.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172200" y="3447288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355080" y="3502152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Analítica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7955280" y="350215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GA4, Search Console, Tag Manager, Meta Pixel, UTM y consentimiento.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172200" y="4233672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355080" y="4288536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Trazabilidad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7955280" y="4288536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Toda aprobación registra autor, fecha y versión.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172200" y="5020056"/>
            <a:ext cx="534924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355080" y="507492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Mantenibilidad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7955280" y="50749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Código versionado, entorno reproducible mediante contenedores.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ÉPICAS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Cada rol, una necesidad de fondo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40080" y="1965960"/>
            <a:ext cx="26517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40080" y="1965960"/>
            <a:ext cx="2651760" cy="77724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40080" y="2331720"/>
            <a:ext cx="2651760" cy="41148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22960" y="2075688"/>
            <a:ext cx="228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Poppins"/>
              <a:buNone/>
            </a:pPr>
            <a:r>
              <a:rPr b="1" lang="en-US" sz="1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Administradora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22960" y="29260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Para gestionar la agencia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22960" y="3474720"/>
            <a:ext cx="22860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Necesito centralizar la gestión comercial y operativa de la agencia, para dejar de depender de Notion y de canales informales.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429000" y="1965960"/>
            <a:ext cx="26517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429000" y="1965960"/>
            <a:ext cx="2651760" cy="77724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429000" y="2331720"/>
            <a:ext cx="2651760" cy="41148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3611880" y="207568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Poppins"/>
              <a:buNone/>
            </a:pPr>
            <a:r>
              <a:rPr b="1" lang="en-US" sz="1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Colaboradora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611880" y="29260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Para producir contenido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611880" y="3474720"/>
            <a:ext cx="22860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Necesito acceder solo a la información de mis clientes asignados, para trabajar sin exponer datos de otros clientes.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217920" y="1965960"/>
            <a:ext cx="26517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217920" y="1965960"/>
            <a:ext cx="2651760" cy="77724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217920" y="2331720"/>
            <a:ext cx="2651760" cy="41148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400800" y="207568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Poppins"/>
              <a:buNone/>
            </a:pPr>
            <a:r>
              <a:rPr b="1" lang="en-US" sz="1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 aprobador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400800" y="29260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Para aprobar mi contenido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400800" y="3474720"/>
            <a:ext cx="22860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Necesito revisar y aprobar el contenido de mi marca desde un solo lugar, para tener trazabilidad de lo que autoricé.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9006840" y="1965960"/>
            <a:ext cx="26517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9006840" y="1965960"/>
            <a:ext cx="2651760" cy="77724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9006840" y="2331720"/>
            <a:ext cx="2651760" cy="41148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9189720" y="207568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Poppins"/>
              <a:buNone/>
            </a:pPr>
            <a:r>
              <a:rPr b="1" lang="en-US" sz="1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 lector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9189720" y="29260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Para estar informada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9189720" y="3474720"/>
            <a:ext cx="22860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Necesito visualizar el estado de mi plan y mis métricas, para estar al tanto sin gestionar directamente el contenido.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HISTORIAS DE USUARIO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De la épica a la funcionalidad concreta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40080" y="1965960"/>
            <a:ext cx="1088136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868680" y="2020824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Administradora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788920" y="2020824"/>
            <a:ext cx="8549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Como administradora, </a:t>
            </a: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Quiero ver el cumplimiento del plan de cada cliente en una sola pantalla, para detectar riesgos de incumplimiento a tiempo.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40080" y="2752344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868680" y="280720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Colaboradora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2788920" y="2807208"/>
            <a:ext cx="8549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Como colaboradora, </a:t>
            </a: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Quiero cargar contenido al calendario editorial y enviarlo a revisión, para cumplir el ciclo semanal de aprobación.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40080" y="3538728"/>
            <a:ext cx="1088136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868680" y="3593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Cliente aprobador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2788920" y="3593592"/>
            <a:ext cx="8549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Como cliente aprobador, </a:t>
            </a: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Quiero aprobar o solicitar cambios sobre el contenido enviado, para mantener control sobre lo que se publica a nombre de mi marca.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40080" y="4325112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868680" y="437997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Cliente lector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2788920" y="4379976"/>
            <a:ext cx="8549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Como cliente lector, </a:t>
            </a: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Quiero descargar el reporte mensual de mi cuenta, para revisar resultados sin depender de que me lo envíen.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640080" y="5111496"/>
            <a:ext cx="10881360" cy="65836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868680" y="51663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Prospecto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2788920" y="5166360"/>
            <a:ext cx="8549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Como prospecto, </a:t>
            </a: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Quiero cotizar en línea respondiendo un formulario, para recibir un diagnóstico y un plan sugerido en minutos.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Interfaces, API, servicios de dominio y datos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Arquitectura_Cosmopolitan_v2-selection.png" id="296" name="Google Shape;2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28800"/>
            <a:ext cx="11201400" cy="441655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2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Scrum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40080" y="1606825"/>
            <a:ext cx="5120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Marco de trabajo ágil e iterativo. El proyecto se organiza en 6 sprints (S0 a S5) a lo largo de 18 semanas, cada uno cerrado por un hito verificable.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40080" y="3252745"/>
            <a:ext cx="118800" cy="118800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914400" y="3133873"/>
            <a:ext cx="484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Entrega temprana y continua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914400" y="3389905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Cada sprint cierra con una fase o capacidad usable.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640080" y="4029985"/>
            <a:ext cx="118800" cy="118800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914400" y="3911113"/>
            <a:ext cx="484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Hitos verificables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914400" y="4167145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6 hitos, del proyecto definido al acta de aceptación.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640080" y="4807225"/>
            <a:ext cx="118800" cy="118800"/>
          </a:xfrm>
          <a:prstGeom prst="ellipse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914400" y="4688353"/>
            <a:ext cx="484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Iterativo e incremental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914400" y="4944385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El alcance de las fases 1 a 3 se construye por etapas.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6126480" y="1828800"/>
            <a:ext cx="5394960" cy="402336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6400800" y="20574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SPRINTS DEL PROYECTO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400800" y="2514600"/>
            <a:ext cx="502920" cy="36576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400800" y="25146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7040880" y="253288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Levantamiento y diseño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400800" y="3044952"/>
            <a:ext cx="502920" cy="36576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400800" y="3044952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7040880" y="3063240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Base del sistema y sitio corporativo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6400800" y="3575304"/>
            <a:ext cx="502920" cy="36576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6400800" y="3575304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7040880" y="3593592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Gestión comercial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6400800" y="4105656"/>
            <a:ext cx="502920" cy="36576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400800" y="4105656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7040880" y="412394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Portal de clientes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400800" y="4636008"/>
            <a:ext cx="502920" cy="36576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400800" y="463600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7040880" y="4654296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Métricas e 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400800" y="5166360"/>
            <a:ext cx="502920" cy="36576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400800" y="516636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7040880" y="518464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Pruebas, despliegue y cierre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/>
          <p:nvPr/>
        </p:nvSpPr>
        <p:spPr>
          <a:xfrm>
            <a:off x="983413" y="2113363"/>
            <a:ext cx="4254000" cy="33555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976522" y="2113400"/>
            <a:ext cx="4267800" cy="77730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966888" y="2166512"/>
            <a:ext cx="4254000" cy="33555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2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Evidencias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 txBox="1"/>
          <p:nvPr/>
        </p:nvSpPr>
        <p:spPr>
          <a:xfrm>
            <a:off x="1292863" y="2975338"/>
            <a:ext cx="3635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Documento de alcance</a:t>
            </a:r>
            <a:endParaRPr sz="1500">
              <a:solidFill>
                <a:srgbClr val="534E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Especificación de requerimientos</a:t>
            </a:r>
            <a:endParaRPr sz="1500">
              <a:solidFill>
                <a:srgbClr val="534E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Product Backlog</a:t>
            </a:r>
            <a:endParaRPr sz="1500">
              <a:solidFill>
                <a:srgbClr val="534E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Modelo de base de datos</a:t>
            </a:r>
            <a:endParaRPr sz="1500">
              <a:solidFill>
                <a:srgbClr val="534E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Documento de arquitectura</a:t>
            </a:r>
            <a:endParaRPr sz="1500">
              <a:solidFill>
                <a:srgbClr val="534E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Carta Gantt</a:t>
            </a:r>
            <a:endParaRPr sz="1500">
              <a:solidFill>
                <a:srgbClr val="534E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Planilla de riesgos</a:t>
            </a:r>
            <a:endParaRPr sz="1500">
              <a:solidFill>
                <a:srgbClr val="534E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Plan de pruebas</a:t>
            </a:r>
            <a:endParaRPr sz="1500">
              <a:solidFill>
                <a:srgbClr val="534E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Manual de administración</a:t>
            </a:r>
            <a:endParaRPr sz="1500"/>
          </a:p>
        </p:txBody>
      </p:sp>
      <p:sp>
        <p:nvSpPr>
          <p:cNvPr id="348" name="Google Shape;348;p14"/>
          <p:cNvSpPr txBox="1"/>
          <p:nvPr/>
        </p:nvSpPr>
        <p:spPr>
          <a:xfrm>
            <a:off x="7476688" y="3137275"/>
            <a:ext cx="3123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Sprint Backlog</a:t>
            </a:r>
            <a:endParaRPr sz="1500">
              <a:solidFill>
                <a:srgbClr val="24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Kanban Board</a:t>
            </a:r>
            <a:endParaRPr sz="1500">
              <a:solidFill>
                <a:srgbClr val="24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Registro de reuniones diarias</a:t>
            </a:r>
            <a:endParaRPr sz="1500">
              <a:solidFill>
                <a:srgbClr val="24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Impediment Log</a:t>
            </a:r>
            <a:endParaRPr sz="1500">
              <a:solidFill>
                <a:srgbClr val="24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Burndown Chart</a:t>
            </a:r>
            <a:endParaRPr sz="1500">
              <a:solidFill>
                <a:srgbClr val="24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Incremento funcional</a:t>
            </a:r>
            <a:endParaRPr sz="1500">
              <a:solidFill>
                <a:srgbClr val="24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Acta de Sprint Review</a:t>
            </a:r>
            <a:endParaRPr sz="1500">
              <a:solidFill>
                <a:srgbClr val="24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Acta de Sprint Retrospective</a:t>
            </a:r>
            <a:endParaRPr sz="1500">
              <a:solidFill>
                <a:srgbClr val="241F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176038" y="2139938"/>
            <a:ext cx="21867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 Proyecto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6979197" y="2166500"/>
            <a:ext cx="4229400" cy="777300"/>
          </a:xfrm>
          <a:prstGeom prst="rect">
            <a:avLst/>
          </a:prstGeom>
          <a:solidFill>
            <a:srgbClr val="C23B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7145912" y="2219600"/>
            <a:ext cx="32241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Por Sprint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Sprints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640080" y="1783080"/>
            <a:ext cx="10881360" cy="56692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822960" y="178308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300"/>
              <a:buFont typeface="Poppins"/>
              <a:buNone/>
            </a:pPr>
            <a:r>
              <a:rPr b="1" lang="en-US" sz="13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Sprint 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1783080" y="1783080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Levantamiento y diseño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4663440" y="178308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S1–S4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5532120" y="178308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Levantamiento, requerimientos, arquitectura y diseño de interfaz.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9235440" y="1783080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Hito 1 — Proyecto definido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640080" y="2441448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822960" y="2441448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300"/>
              <a:buFont typeface="Poppins"/>
              <a:buNone/>
            </a:pPr>
            <a:r>
              <a:rPr b="1" lang="en-US" sz="13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Sprint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1783080" y="2441448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Base del sistema y sitio corporativo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663440" y="2441448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S5–S8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532120" y="2441448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Autenticación, roles, catálogo de planes, sitio corporativo y CMS.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9235440" y="2441448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640080" y="3099816"/>
            <a:ext cx="10881360" cy="56692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822960" y="3099816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300"/>
              <a:buFont typeface="Poppins"/>
              <a:buNone/>
            </a:pPr>
            <a:r>
              <a:rPr b="1" lang="en-US" sz="13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Sprint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1783080" y="3099816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Gestión comercial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663440" y="3099816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S9–S11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532120" y="3099816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Prospectos, kanban, cotizador dinámico y conversión a cliente.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9235440" y="3099816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40080" y="3758184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822960" y="3758184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300"/>
              <a:buFont typeface="Poppins"/>
              <a:buNone/>
            </a:pPr>
            <a:r>
              <a:rPr b="1" lang="en-US" sz="13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Sprint 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783080" y="3758184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Portal de clientes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4663440" y="3758184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S12–S14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5532120" y="3758184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Calendario, aprobación, versionado, solicitudes y cumplimiento del plan.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9235440" y="3758184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Hito 2 — Sitio corporativo en </a:t>
            </a:r>
            <a:r>
              <a:rPr i="1" lang="en-US" sz="95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línea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40080" y="4416552"/>
            <a:ext cx="10881360" cy="566928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822960" y="4416552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300"/>
              <a:buFont typeface="Poppins"/>
              <a:buNone/>
            </a:pPr>
            <a:r>
              <a:rPr b="1" lang="en-US" sz="13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Sprint 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1783080" y="4416552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Métricas e 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663440" y="4416552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S15–S17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5532120" y="4416552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Campañas, dashboards, y las tres funcionalidades de IA.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9235440" y="4416552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40080" y="5074920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822960" y="507492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300"/>
              <a:buFont typeface="Poppins"/>
              <a:buNone/>
            </a:pPr>
            <a:r>
              <a:rPr b="1" lang="en-US" sz="13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Sprint 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1783080" y="5074920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Pruebas, despliegue y cierre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663440" y="507492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S17–S18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5532120" y="507492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E5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34E5C"/>
                </a:solidFill>
                <a:latin typeface="Calibri"/>
                <a:ea typeface="Calibri"/>
                <a:cs typeface="Calibri"/>
                <a:sym typeface="Calibri"/>
              </a:rPr>
              <a:t>Pruebas de aislamiento, despliegue, documentación y validación.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9235440" y="5074920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8F7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1D8F73"/>
                </a:solidFill>
                <a:latin typeface="Calibri"/>
                <a:ea typeface="Calibri"/>
                <a:cs typeface="Calibri"/>
                <a:sym typeface="Calibri"/>
              </a:rPr>
              <a:t>Hito 3 — Acta de aceptación e informe final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Carta Gantt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400" y="1523770"/>
            <a:ext cx="10402167" cy="440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"/>
          <p:cNvSpPr/>
          <p:nvPr/>
        </p:nvSpPr>
        <p:spPr>
          <a:xfrm>
            <a:off x="8009888" y="4076900"/>
            <a:ext cx="1754400" cy="6585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5203563" y="4058300"/>
            <a:ext cx="1754400" cy="6957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2397238" y="4095425"/>
            <a:ext cx="1754400" cy="6585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Roles del equipo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2651765" y="2495235"/>
            <a:ext cx="1371600" cy="1371600"/>
          </a:xfrm>
          <a:prstGeom prst="ellipse">
            <a:avLst/>
          </a:prstGeom>
          <a:solidFill>
            <a:srgbClr val="F1ECEF"/>
          </a:solidFill>
          <a:ln cap="flat" cmpd="sng" w="12700">
            <a:solidFill>
              <a:srgbClr val="E3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2651765" y="2495235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[foto]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2080265" y="4095435"/>
            <a:ext cx="251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Esteban Morales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2651763" y="4388175"/>
            <a:ext cx="122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Scrum Team</a:t>
            </a:r>
            <a:endParaRPr b="1" sz="1100">
              <a:solidFill>
                <a:srgbClr val="8E2A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5394965" y="2495235"/>
            <a:ext cx="1371600" cy="1371600"/>
          </a:xfrm>
          <a:prstGeom prst="ellipse">
            <a:avLst/>
          </a:prstGeom>
          <a:solidFill>
            <a:srgbClr val="F1ECEF"/>
          </a:solidFill>
          <a:ln cap="flat" cmpd="sng" w="12700">
            <a:solidFill>
              <a:srgbClr val="E3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5394965" y="2495235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[foto]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4823465" y="4095435"/>
            <a:ext cx="251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Christian Cuadra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4823465" y="4433763"/>
            <a:ext cx="251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Scrum Team</a:t>
            </a:r>
            <a:endParaRPr b="1" sz="1100">
              <a:solidFill>
                <a:srgbClr val="8E2A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8138165" y="2495235"/>
            <a:ext cx="1371600" cy="1371600"/>
          </a:xfrm>
          <a:prstGeom prst="ellipse">
            <a:avLst/>
          </a:prstGeom>
          <a:solidFill>
            <a:srgbClr val="F1ECEF"/>
          </a:solidFill>
          <a:ln cap="flat" cmpd="sng" w="12700">
            <a:solidFill>
              <a:srgbClr val="E3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8138165" y="2495235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[foto]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7566665" y="4095435"/>
            <a:ext cx="251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Felipe Gutierrez</a:t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7566665" y="4433763"/>
            <a:ext cx="251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Scrum Team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6712" y="2303782"/>
            <a:ext cx="1754506" cy="1754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3524" y="2312932"/>
            <a:ext cx="1754506" cy="1754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349" y="2312932"/>
            <a:ext cx="1754506" cy="1754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23B63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3000"/>
              <a:buFont typeface="Poppins"/>
              <a:buNone/>
            </a:pPr>
            <a:r>
              <a:rPr b="1" lang="en-US" sz="3000">
                <a:solidFill>
                  <a:srgbClr val="241F2B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69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8694"/>
                </a:solidFill>
                <a:latin typeface="Calibri"/>
                <a:ea typeface="Calibri"/>
                <a:cs typeface="Calibri"/>
                <a:sym typeface="Calibri"/>
              </a:rPr>
              <a:t>Plataforma Cosmopolitan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640080" y="1965960"/>
            <a:ext cx="3520440" cy="41148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822960" y="205740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4000"/>
              <a:buFont typeface="Poppins"/>
              <a:buNone/>
            </a:pPr>
            <a:r>
              <a:rPr b="1" lang="en-US" sz="4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914400" y="5543156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Felipe Gutierrez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914400" y="2743200"/>
            <a:ext cx="29718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F2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Trabajar en Plataforma Cosmopolitan me obliga a moverme entre capas: desde el modelo de datos y el aislamiento por cliente, hasta la integración de Gemini para generar cotizaciones y reportes. Lo que más voy aprender va a ser a diseñar pensando en seguridad desde la base, no como un parche al </a:t>
            </a:r>
            <a:r>
              <a:rPr i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r>
              <a:rPr i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: cada decisión de arquitectura tiene que responder primero “¿a qué cliente pertenece esto?” antes de resolver cualquier otra cosa.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4434840" y="1943100"/>
            <a:ext cx="3520440" cy="41148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8229600" y="1965960"/>
            <a:ext cx="3520440" cy="4114800"/>
          </a:xfrm>
          <a:prstGeom prst="rect">
            <a:avLst/>
          </a:prstGeom>
          <a:solidFill>
            <a:srgbClr val="F7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4625077" y="205740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4000"/>
              <a:buFont typeface="Poppins"/>
              <a:buNone/>
            </a:pPr>
            <a:r>
              <a:rPr b="1" lang="en-US" sz="4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8377270" y="2052145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3B63"/>
              </a:buClr>
              <a:buSzPts val="4000"/>
              <a:buFont typeface="Poppins"/>
              <a:buNone/>
            </a:pPr>
            <a:r>
              <a:rPr b="1" lang="en-US" sz="4000">
                <a:solidFill>
                  <a:srgbClr val="C23B63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4625077" y="5546309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Christian Cuadra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8503920" y="5546309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2A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E2A49"/>
                </a:solidFill>
                <a:latin typeface="Calibri"/>
                <a:ea typeface="Calibri"/>
                <a:cs typeface="Calibri"/>
                <a:sym typeface="Calibri"/>
              </a:rPr>
              <a:t>Esteban Morales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 txBox="1"/>
          <p:nvPr/>
        </p:nvSpPr>
        <p:spPr>
          <a:xfrm>
            <a:off x="4709163" y="2697475"/>
            <a:ext cx="29718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Concluyó</a:t>
            </a:r>
            <a:r>
              <a:rPr i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 que este trabajo me sirve profesionalmente, porque me permitió mejorar en el área en la que me quiero especializar: datos. Trabajar en cómo se maneja y se utiliza la información de cada cliente, desde cómo se estructura hasta cómo se usa para generar reportes, cotizaciones y respuestas de la IA, fue la parte del proyecto que más se conecta con lo que quiero seguir desarrollando profesionalmente.</a:t>
            </a:r>
            <a:endParaRPr/>
          </a:p>
        </p:txBody>
      </p:sp>
      <p:sp>
        <p:nvSpPr>
          <p:cNvPr id="450" name="Google Shape;450;p17"/>
          <p:cNvSpPr txBox="1"/>
          <p:nvPr/>
        </p:nvSpPr>
        <p:spPr>
          <a:xfrm>
            <a:off x="8503913" y="2764500"/>
            <a:ext cx="29718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241F2B"/>
                </a:solidFill>
                <a:latin typeface="Calibri"/>
                <a:ea typeface="Calibri"/>
                <a:cs typeface="Calibri"/>
                <a:sym typeface="Calibri"/>
              </a:rPr>
              <a:t>Hasta esta primera etapa, uno de los principales aprendizajes ha sido entender que antes de desarrollar una solución es fundamental conocer bien el problema y definir con claridad qué se quiere resolver. Me gustó especialmente el proceso de analizar las necesidades de la agencia y comenzar a convertirlas en requerimientos y objetivos concretos. Esta fase me permitió valorar mucho más la planificación inicial, porque es la base que va a orientar todo lo que se desarrolle después.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F2B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8"/>
          <p:cNvSpPr/>
          <p:nvPr/>
        </p:nvSpPr>
        <p:spPr>
          <a:xfrm>
            <a:off x="8778240" y="3840480"/>
            <a:ext cx="4754880" cy="4754880"/>
          </a:xfrm>
          <a:prstGeom prst="ellipse">
            <a:avLst/>
          </a:prstGeom>
          <a:solidFill>
            <a:srgbClr val="8E2A49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822960" y="265176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oppins"/>
              <a:buNone/>
            </a:pPr>
            <a:r>
              <a:rPr b="1"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868680" y="3566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FD6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D8CFD6"/>
                </a:solidFill>
                <a:latin typeface="Calibri"/>
                <a:ea typeface="Calibri"/>
                <a:cs typeface="Calibri"/>
                <a:sym typeface="Calibri"/>
              </a:rPr>
              <a:t>Plataforma Cosmopolitan — Capstone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2026-08-25T15:32:18Z</dcterms:created>
  <dc:creator>PptxGenJS</dc:creator>
</cp:coreProperties>
</file>